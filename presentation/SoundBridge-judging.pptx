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372755e4d74fe0" /><Relationship Type="http://schemas.openxmlformats.org/officeDocument/2006/relationships/extended-properties" Target="/docProps/app.xml" Id="Re33e1ff0a13c48e2" /><Relationship Type="http://schemas.openxmlformats.org/officeDocument/2006/relationships/officeDocument" Target="/ppt/presentation.xml" Id="Rea35cbf6b7e04110" /></Relationships>
</file>

<file path=ppt/presentation.xml><?xml version="1.0" encoding="utf-8"?>
<p:presentation xmlns:p="http://schemas.openxmlformats.org/presentationml/2006/main">
  <p:sldMasterIdLst>
    <p:sldMasterId xmlns:r="http://schemas.openxmlformats.org/officeDocument/2006/relationships" id="2147483648" r:id="R756833afd3464e9c"/>
  </p:sldMasterIdLst>
  <p:notesMasterIdLst>
    <p:notesMasterId xmlns:r="http://schemas.openxmlformats.org/officeDocument/2006/relationships" r:id="R9f7429f854fb4007"/>
  </p:notesMasterIdLst>
  <p:sldIdLst>
    <p:sldId xmlns:r="http://schemas.openxmlformats.org/officeDocument/2006/relationships" id="256" r:id="R004609161c73473e"/>
    <p:sldId xmlns:r="http://schemas.openxmlformats.org/officeDocument/2006/relationships" id="257" r:id="Rae4dd31f337c4b79"/>
    <p:sldId xmlns:r="http://schemas.openxmlformats.org/officeDocument/2006/relationships" id="258" r:id="Rbf6caf8fdc004713"/>
    <p:sldId xmlns:r="http://schemas.openxmlformats.org/officeDocument/2006/relationships" id="259" r:id="R353d19c6d8d6478f"/>
    <p:sldId xmlns:r="http://schemas.openxmlformats.org/officeDocument/2006/relationships" id="260" r:id="R8c50c9b9a2c54d9b"/>
    <p:sldId xmlns:r="http://schemas.openxmlformats.org/officeDocument/2006/relationships" id="261" r:id="Re2fdf5e76f6446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e5dc1460764704" /><Relationship Type="http://schemas.openxmlformats.org/officeDocument/2006/relationships/slideMaster" Target="/ppt/slideMasters/slideMaster1.xml" Id="R756833afd3464e9c" /><Relationship Type="http://schemas.openxmlformats.org/officeDocument/2006/relationships/notesMaster" Target="/ppt/notesMasters/notesMaster1.xml" Id="R9f7429f854fb4007" /><Relationship Type="http://schemas.openxmlformats.org/officeDocument/2006/relationships/presProps" Target="/ppt/presProps.xml" Id="Ra9138f386d504b94" /><Relationship Type="http://schemas.openxmlformats.org/officeDocument/2006/relationships/tableStyles" Target="/ppt/tableStyles.xml" Id="R9e75a4c39eb74156" /><Relationship Type="http://schemas.openxmlformats.org/officeDocument/2006/relationships/slide" Target="/ppt/slides/slide1.xml" Id="R004609161c73473e" /><Relationship Type="http://schemas.openxmlformats.org/officeDocument/2006/relationships/slide" Target="/ppt/slides/slide2.xml" Id="Rae4dd31f337c4b79" /><Relationship Type="http://schemas.openxmlformats.org/officeDocument/2006/relationships/slide" Target="/ppt/slides/slide3.xml" Id="Rbf6caf8fdc004713" /><Relationship Type="http://schemas.openxmlformats.org/officeDocument/2006/relationships/slide" Target="/ppt/slides/slide4.xml" Id="R353d19c6d8d6478f" /><Relationship Type="http://schemas.openxmlformats.org/officeDocument/2006/relationships/slide" Target="/ppt/slides/slide5.xml" Id="R8c50c9b9a2c54d9b" /><Relationship Type="http://schemas.openxmlformats.org/officeDocument/2006/relationships/slide" Target="/ppt/slides/slide6.xml" Id="Re2fdf5e76f6446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175a6975b54e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d42becaf6b4038" /><Relationship Type="http://schemas.openxmlformats.org/officeDocument/2006/relationships/notesMaster" Target="/ppt/notesMasters/notesMaster1.xml" Id="R9f8d966a5fe247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2f6cdcc527492c" /><Relationship Type="http://schemas.openxmlformats.org/officeDocument/2006/relationships/notesMaster" Target="/ppt/notesMasters/notesMaster1.xml" Id="R568d0a75c98a43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59c857c1f84c4a" /><Relationship Type="http://schemas.openxmlformats.org/officeDocument/2006/relationships/notesMaster" Target="/ppt/notesMasters/notesMaster1.xml" Id="Rd71df870480d47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19336f305a4b8c" /><Relationship Type="http://schemas.openxmlformats.org/officeDocument/2006/relationships/notesMaster" Target="/ppt/notesMasters/notesMaster1.xml" Id="Rc2c3169b53c746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064bfd852d41e4" /><Relationship Type="http://schemas.openxmlformats.org/officeDocument/2006/relationships/notesMaster" Target="/ppt/notesMasters/notesMaster1.xml" Id="R19ee3c23f7e74e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e6a9f5b6254888" /><Relationship Type="http://schemas.openxmlformats.org/officeDocument/2006/relationships/notesMaster" Target="/ppt/notesMasters/notesMaster1.xml" Id="Rdc9ab8e421724f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 concrete moment: “A kettle whistles. A name is called. A train announcement changes. What if you could ask a person what that sound means, and read the answer?” SoundBridge connects Deaf and hard-of-hearing people with community volunteers. The user asking for help controls the interaction. This project grew from the founder’s Good Samaritan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problem without assuming all Deaf people have the same preferences. SoundBridge offers an optional way to get context about a sound. It does not interpret sign language or replace professional accessibility services. No prevalence statistics or user research results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live app here. Show a request on the phone and a volunteer on the laptop. Point at a kettle or play a familiar sound from another tab. Have the volunteer type a description. Send an attention signal and a quick reply. If two devices are unavailable, use the clearly labeled guided demo with its illustrated scenes and scripted volunteer. Voice typing creates a draft for review before sending.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 uses WebRTC with STUN. Restricted networks may require a TURN relay. The Edge Function authenticates each session using a hash of an unpredictable bearer token, then checks room membership. Database tables deny browser access. Text and signaling use authenticated polling, roughly once a second while connected. Postgres uses transaction locks for random matching and one-use invitations. Append and end operations lock the same room, so a racing message cannot survive call cleanup. Messages are ephemeral, and the app never records audio or video. Automated integration tests exercise matching, authorization and cleanup. Generated camera streams verify the real WebRTC path without accessing physical devices.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pilot proposal, not validated demand, traction or a confirmed partnership. Co-design with Deaf and hard-of-hearing students first. An accessibility office could coordinate opt-in volunteer shifts, while SASE members could provide the initial volunteer pool. Measure time to a useful response and user-rated helpfulness. A possible funding model is institutional sponsorship while keeping access free. Before a public pilot, add volunteer screening, staffed reporting, abuse controls and TURN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theme: a positive community change can begin with one person making a few minutes available to another. Invite the judges to scan the app URL or try the practice demo. Repository: https://github.com/Jaxonize/soundbridge-sasehacks. Do not imply the Devpost project has been submitted. The team will complete submission after final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67a46f8ecd4a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8acab6001d4a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6bc19bf6b24e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fe0b10149348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c8d56b090a47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c9f95b54f04d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2734C5-90B4-4DFB-A8AE-B385A593879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A58A57-FCDA-4889-B999-7E236EC136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A6FE6B-0FAF-4B5D-8F7E-522D91D82F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B9CDC5-9AD2-4E6F-898C-4B7B9CE2CB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BF77E8-0278-4EAF-8492-9EA8F758EB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60596B-85B3-4511-8354-4A55FBE5D9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2DA2BE-15B7-4D76-A369-E079544B0A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A4752A-3A44-42E0-B47D-5852BC5D43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696C7F-1628-439E-B983-94F2D15C89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EE9AB4-898A-4199-BE8B-EFCD14CA5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5b33c66e004520" /><Relationship Type="http://schemas.openxmlformats.org/officeDocument/2006/relationships/slideLayout" Target="/ppt/slideLayouts/slideLayout1.xml" Id="R05adfea37de54d6f" /><Relationship Type="http://schemas.openxmlformats.org/officeDocument/2006/relationships/slideLayout" Target="/ppt/slideLayouts/slideLayout2.xml" Id="R0cfbd013bb614b3b" /><Relationship Type="http://schemas.openxmlformats.org/officeDocument/2006/relationships/slideLayout" Target="/ppt/slideLayouts/slideLayout3.xml" Id="R1d5a6ab9ee65482f" /><Relationship Type="http://schemas.openxmlformats.org/officeDocument/2006/relationships/slideLayout" Target="/ppt/slideLayouts/slideLayout4.xml" Id="Rc717ebfebe134cc5" /><Relationship Type="http://schemas.openxmlformats.org/officeDocument/2006/relationships/slideLayout" Target="/ppt/slideLayouts/slideLayout5.xml" Id="Reb5a4b123ec04b03" /><Relationship Type="http://schemas.openxmlformats.org/officeDocument/2006/relationships/slideLayout" Target="/ppt/slideLayouts/slideLayout6.xml" Id="Rd8c9cec39be34e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adfea37de54d6f"/>
    <p:sldLayoutId xmlns:r="http://schemas.openxmlformats.org/officeDocument/2006/relationships" id="2147483650" r:id="R0cfbd013bb614b3b"/>
    <p:sldLayoutId xmlns:r="http://schemas.openxmlformats.org/officeDocument/2006/relationships" id="2147483651" r:id="R1d5a6ab9ee65482f"/>
    <p:sldLayoutId xmlns:r="http://schemas.openxmlformats.org/officeDocument/2006/relationships" id="2147483652" r:id="Rc717ebfebe134cc5"/>
    <p:sldLayoutId xmlns:r="http://schemas.openxmlformats.org/officeDocument/2006/relationships" id="2147483653" r:id="Reb5a4b123ec04b03"/>
    <p:sldLayoutId xmlns:r="http://schemas.openxmlformats.org/officeDocument/2006/relationships" id="2147483654" r:id="Rd8c9cec39be34e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1a56487aae49e8" /><Relationship Type="http://schemas.openxmlformats.org/officeDocument/2006/relationships/notesSlide" Target="/ppt/notesSlides/notesSlide1.xml" Id="Rd5937283654c40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23e618a9e24a06" /><Relationship Type="http://schemas.openxmlformats.org/officeDocument/2006/relationships/notesSlide" Target="/ppt/notesSlides/notesSlide2.xml" Id="R7c285694d2f24b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6c4511e0bb4a70" /><Relationship Type="http://schemas.openxmlformats.org/officeDocument/2006/relationships/image" Target="/ppt/media/image.jpeg" Id="R363a0be635044807" /><Relationship Type="http://schemas.openxmlformats.org/officeDocument/2006/relationships/notesSlide" Target="/ppt/notesSlides/notesSlide3.xml" Id="Rcb74ca1b459249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1de9d774f24c7e" /><Relationship Type="http://schemas.openxmlformats.org/officeDocument/2006/relationships/notesSlide" Target="/ppt/notesSlides/notesSlide4.xml" Id="R0159acf0cd1e4f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c97e8da4c146be" /><Relationship Type="http://schemas.openxmlformats.org/officeDocument/2006/relationships/notesSlide" Target="/ppt/notesSlides/notesSlide5.xml" Id="R41a6713a6f0948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b61ff8b6fc43b8" /><Relationship Type="http://schemas.openxmlformats.org/officeDocument/2006/relationships/notesSlide" Target="/ppt/notesSlides/notesSlide6.xml" Id="Rdde7bb562796402d" /></Relationships>
</file>

<file path=ppt/slides/slide1.xml><?xml version="1.0" encoding="utf-8"?>
<p:sld xmlns:p="http://schemas.openxmlformats.org/presentationml/2006/main">
  <p:cSld>
    <p:bg>
      <p:bgPr>
        <a:solidFill xmlns:a="http://schemas.openxmlformats.org/drawingml/2006/main">
          <a:srgbClr val="F3E6D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E3F140-EE91-4F14-A28F-57E9F41C6204}"/>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DD62D7BB-694A-415F-A8C3-1A7FCA978CC6}"/>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00A70AC-620B-47B5-BDCC-D9FE06E0BF44}"/>
              </a:ext>
            </a:extLst>
          </p:cNvPr>
          <p:cNvSpPr>
            <a:spLocks xmlns:a="http://schemas.openxmlformats.org/drawingml/2006/main" noGrp="1"/>
          </p:cNvSpPr>
          <p:nvPr/>
        </p:nvSpPr>
        <p:spPr>
          <a:xfrm xmlns:a="http://schemas.openxmlformats.org/drawingml/2006/main">
            <a:off x="685800" y="1571625"/>
            <a:ext cx="10477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6450">
                <a:solidFill>
                  <a:srgbClr val="30372F"/>
                </a:solidFill>
                <a:latin typeface="Georgia"/>
                <a:ea typeface="Georgia"/>
                <a:cs typeface="Georgia"/>
              </a:defRPr>
            </a:defPPr>
            <a:lvl1pPr>
              <a:defRPr sz="6450">
                <a:solidFill>
                  <a:srgbClr val="30372F"/>
                </a:solidFill>
                <a:latin typeface="Georgia"/>
                <a:ea typeface="Georgia"/>
                <a:cs typeface="Georgia"/>
              </a:defRPr>
            </a:lvl1pPr>
            <a:lvl2pPr>
              <a:defRPr sz="6450">
                <a:solidFill>
                  <a:srgbClr val="30372F"/>
                </a:solidFill>
                <a:latin typeface="Georgia"/>
                <a:ea typeface="Georgia"/>
                <a:cs typeface="Georgia"/>
              </a:defRPr>
            </a:lvl2pPr>
            <a:lvl3pPr>
              <a:defRPr sz="6450">
                <a:solidFill>
                  <a:srgbClr val="30372F"/>
                </a:solidFill>
                <a:latin typeface="Georgia"/>
                <a:ea typeface="Georgia"/>
                <a:cs typeface="Georgia"/>
              </a:defRPr>
            </a:lvl3pPr>
            <a:lvl4pPr>
              <a:defRPr sz="6450">
                <a:solidFill>
                  <a:srgbClr val="30372F"/>
                </a:solidFill>
                <a:latin typeface="Georgia"/>
                <a:ea typeface="Georgia"/>
                <a:cs typeface="Georgia"/>
              </a:defRPr>
            </a:lvl4pPr>
            <a:lvl5pPr>
              <a:defRPr sz="6450">
                <a:solidFill>
                  <a:srgbClr val="30372F"/>
                </a:solidFill>
                <a:latin typeface="Georgia"/>
                <a:ea typeface="Georgia"/>
                <a:cs typeface="Georgia"/>
              </a:defRPr>
            </a:lvl5pPr>
            <a:lvl6pPr>
              <a:defRPr sz="6450">
                <a:solidFill>
                  <a:srgbClr val="30372F"/>
                </a:solidFill>
                <a:latin typeface="Georgia"/>
                <a:ea typeface="Georgia"/>
                <a:cs typeface="Georgia"/>
              </a:defRPr>
            </a:lvl6pPr>
            <a:lvl7pPr>
              <a:defRPr sz="6450">
                <a:solidFill>
                  <a:srgbClr val="30372F"/>
                </a:solidFill>
                <a:latin typeface="Georgia"/>
                <a:ea typeface="Georgia"/>
                <a:cs typeface="Georgia"/>
              </a:defRPr>
            </a:lvl7pPr>
            <a:lvl8pPr>
              <a:defRPr sz="6450">
                <a:solidFill>
                  <a:srgbClr val="30372F"/>
                </a:solidFill>
                <a:latin typeface="Georgia"/>
                <a:ea typeface="Georgia"/>
                <a:cs typeface="Georgia"/>
              </a:defRPr>
            </a:lvl8pPr>
            <a:lvl9pPr>
              <a:defRPr sz="6450">
                <a:solidFill>
                  <a:srgbClr val="30372F"/>
                </a:solidFill>
                <a:latin typeface="Georgia"/>
                <a:ea typeface="Georgia"/>
                <a:cs typeface="Georgia"/>
              </a:defRPr>
            </a:lvl9pPr>
          </a:lstStyle>
          <a:p xmlns:a="http://schemas.openxmlformats.org/drawingml/2006/main">
            <a:pPr>
              <a:defRPr sz="6450">
                <a:solidFill>
                  <a:srgbClr val="30372F"/>
                </a:solidFill>
              </a:defRPr>
            </a:pPr>
            <a:r>
              <a:rPr sz="6450">
                <a:solidFill>
                  <a:srgbClr val="30372F"/>
                </a:solidFill>
                <a:latin typeface="Georgia"/>
                <a:ea typeface="Georgia"/>
                <a:cs typeface="Georgia"/>
              </a:rPr>
              <a:t>A little sound.</a:t>
            </a:r>
          </a:p>
          <a:p xmlns:a="http://schemas.openxmlformats.org/drawingml/2006/main">
            <a:pPr>
              <a:defRPr sz="6450">
                <a:solidFill>
                  <a:srgbClr val="30372F"/>
                </a:solidFill>
              </a:defRPr>
            </a:pPr>
            <a:r>
              <a:rPr sz="6450">
                <a:solidFill>
                  <a:srgbClr val="30372F"/>
                </a:solidFill>
                <a:latin typeface="Georgia"/>
                <a:ea typeface="Georgia"/>
                <a:cs typeface="Georgia"/>
              </a:rPr>
              <a:t>A lot of connection.</a:t>
            </a:r>
          </a:p>
        </p:txBody>
      </p:sp>
      <p:sp>
        <p:nvSpPr>
          <p:cNvPr id="5" name="">
            <a:extLst xmlns:a="http://schemas.openxmlformats.org/drawingml/2006/main">
              <a:ext uri="{FF2B5EF4-FFF2-40B4-BE49-F238E27FC236}">
                <a16:creationId xmlns:a16="http://schemas.microsoft.com/office/drawing/2014/main" id="{39A4B649-DFD3-4667-9773-4BDA10FE7E7D}"/>
              </a:ext>
            </a:extLst>
          </p:cNvPr>
          <p:cNvSpPr>
            <a:spLocks xmlns:a="http://schemas.openxmlformats.org/drawingml/2006/main" noGrp="1"/>
          </p:cNvSpPr>
          <p:nvPr/>
        </p:nvSpPr>
        <p:spPr>
          <a:xfrm xmlns:a="http://schemas.openxmlformats.org/drawingml/2006/main">
            <a:off x="723900" y="4343400"/>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a:solidFill>
                  <a:srgbClr val="65715A"/>
                </a:solidFill>
                <a:latin typeface="Arial"/>
                <a:ea typeface="Arial"/>
                <a:cs typeface="Arial"/>
              </a:defRPr>
            </a:defPPr>
            <a:lvl1pPr>
              <a:defRPr sz="2175">
                <a:solidFill>
                  <a:srgbClr val="65715A"/>
                </a:solidFill>
                <a:latin typeface="Arial"/>
                <a:ea typeface="Arial"/>
                <a:cs typeface="Arial"/>
              </a:defRPr>
            </a:lvl1pPr>
            <a:lvl2pPr>
              <a:defRPr sz="2175">
                <a:solidFill>
                  <a:srgbClr val="65715A"/>
                </a:solidFill>
                <a:latin typeface="Arial"/>
                <a:ea typeface="Arial"/>
                <a:cs typeface="Arial"/>
              </a:defRPr>
            </a:lvl2pPr>
            <a:lvl3pPr>
              <a:defRPr sz="2175">
                <a:solidFill>
                  <a:srgbClr val="65715A"/>
                </a:solidFill>
                <a:latin typeface="Arial"/>
                <a:ea typeface="Arial"/>
                <a:cs typeface="Arial"/>
              </a:defRPr>
            </a:lvl3pPr>
            <a:lvl4pPr>
              <a:defRPr sz="2175">
                <a:solidFill>
                  <a:srgbClr val="65715A"/>
                </a:solidFill>
                <a:latin typeface="Arial"/>
                <a:ea typeface="Arial"/>
                <a:cs typeface="Arial"/>
              </a:defRPr>
            </a:lvl4pPr>
            <a:lvl5pPr>
              <a:defRPr sz="2175">
                <a:solidFill>
                  <a:srgbClr val="65715A"/>
                </a:solidFill>
                <a:latin typeface="Arial"/>
                <a:ea typeface="Arial"/>
                <a:cs typeface="Arial"/>
              </a:defRPr>
            </a:lvl5pPr>
            <a:lvl6pPr>
              <a:defRPr sz="2175">
                <a:solidFill>
                  <a:srgbClr val="65715A"/>
                </a:solidFill>
                <a:latin typeface="Arial"/>
                <a:ea typeface="Arial"/>
                <a:cs typeface="Arial"/>
              </a:defRPr>
            </a:lvl6pPr>
            <a:lvl7pPr>
              <a:defRPr sz="2175">
                <a:solidFill>
                  <a:srgbClr val="65715A"/>
                </a:solidFill>
                <a:latin typeface="Arial"/>
                <a:ea typeface="Arial"/>
                <a:cs typeface="Arial"/>
              </a:defRPr>
            </a:lvl7pPr>
            <a:lvl8pPr>
              <a:defRPr sz="2175">
                <a:solidFill>
                  <a:srgbClr val="65715A"/>
                </a:solidFill>
                <a:latin typeface="Arial"/>
                <a:ea typeface="Arial"/>
                <a:cs typeface="Arial"/>
              </a:defRPr>
            </a:lvl8pPr>
            <a:lvl9pPr>
              <a:defRPr sz="2175">
                <a:solidFill>
                  <a:srgbClr val="65715A"/>
                </a:solidFill>
                <a:latin typeface="Arial"/>
                <a:ea typeface="Arial"/>
                <a:cs typeface="Arial"/>
              </a:defRPr>
            </a:lvl9pPr>
          </a:lstStyle>
          <a:p xmlns:a="http://schemas.openxmlformats.org/drawingml/2006/main">
            <a:pPr>
              <a:defRPr sz="2175">
                <a:solidFill>
                  <a:srgbClr val="65715A"/>
                </a:solidFill>
              </a:defRPr>
            </a:pPr>
            <a:r>
              <a:rPr sz="2175">
                <a:solidFill>
                  <a:srgbClr val="65715A"/>
                </a:solidFill>
                <a:latin typeface="Arial"/>
                <a:ea typeface="Arial"/>
                <a:cs typeface="Arial"/>
              </a:rPr>
              <a:t>Everyday sound help, from one person to another.</a:t>
            </a:r>
          </a:p>
        </p:txBody>
      </p:sp>
      <p:sp>
        <p:nvSpPr>
          <p:cNvPr id="6" name="">
            <a:extLst xmlns:a="http://schemas.openxmlformats.org/drawingml/2006/main">
              <a:ext uri="{FF2B5EF4-FFF2-40B4-BE49-F238E27FC236}">
                <a16:creationId xmlns:a16="http://schemas.microsoft.com/office/drawing/2014/main" id="{70E704B7-48DB-4142-B198-7696DDB8E462}"/>
              </a:ext>
            </a:extLst>
          </p:cNvPr>
          <p:cNvSpPr>
            <a:spLocks xmlns:a="http://schemas.openxmlformats.org/drawingml/2006/main" noGrp="1"/>
          </p:cNvSpPr>
          <p:nvPr/>
        </p:nvSpPr>
        <p:spPr>
          <a:xfrm xmlns:a="http://schemas.openxmlformats.org/drawingml/2006/main">
            <a:off x="723900" y="5857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BC6B47"/>
                </a:solidFill>
                <a:latin typeface="Arial"/>
                <a:ea typeface="Arial"/>
                <a:cs typeface="Arial"/>
              </a:defRPr>
            </a:defPPr>
            <a:lvl1pPr>
              <a:defRPr sz="1650">
                <a:solidFill>
                  <a:srgbClr val="BC6B47"/>
                </a:solidFill>
                <a:latin typeface="Arial"/>
                <a:ea typeface="Arial"/>
                <a:cs typeface="Arial"/>
              </a:defRPr>
            </a:lvl1pPr>
            <a:lvl2pPr>
              <a:defRPr sz="1650">
                <a:solidFill>
                  <a:srgbClr val="BC6B47"/>
                </a:solidFill>
                <a:latin typeface="Arial"/>
                <a:ea typeface="Arial"/>
                <a:cs typeface="Arial"/>
              </a:defRPr>
            </a:lvl2pPr>
            <a:lvl3pPr>
              <a:defRPr sz="1650">
                <a:solidFill>
                  <a:srgbClr val="BC6B47"/>
                </a:solidFill>
                <a:latin typeface="Arial"/>
                <a:ea typeface="Arial"/>
                <a:cs typeface="Arial"/>
              </a:defRPr>
            </a:lvl3pPr>
            <a:lvl4pPr>
              <a:defRPr sz="1650">
                <a:solidFill>
                  <a:srgbClr val="BC6B47"/>
                </a:solidFill>
                <a:latin typeface="Arial"/>
                <a:ea typeface="Arial"/>
                <a:cs typeface="Arial"/>
              </a:defRPr>
            </a:lvl4pPr>
            <a:lvl5pPr>
              <a:defRPr sz="1650">
                <a:solidFill>
                  <a:srgbClr val="BC6B47"/>
                </a:solidFill>
                <a:latin typeface="Arial"/>
                <a:ea typeface="Arial"/>
                <a:cs typeface="Arial"/>
              </a:defRPr>
            </a:lvl5pPr>
            <a:lvl6pPr>
              <a:defRPr sz="1650">
                <a:solidFill>
                  <a:srgbClr val="BC6B47"/>
                </a:solidFill>
                <a:latin typeface="Arial"/>
                <a:ea typeface="Arial"/>
                <a:cs typeface="Arial"/>
              </a:defRPr>
            </a:lvl6pPr>
            <a:lvl7pPr>
              <a:defRPr sz="1650">
                <a:solidFill>
                  <a:srgbClr val="BC6B47"/>
                </a:solidFill>
                <a:latin typeface="Arial"/>
                <a:ea typeface="Arial"/>
                <a:cs typeface="Arial"/>
              </a:defRPr>
            </a:lvl7pPr>
            <a:lvl8pPr>
              <a:defRPr sz="1650">
                <a:solidFill>
                  <a:srgbClr val="BC6B47"/>
                </a:solidFill>
                <a:latin typeface="Arial"/>
                <a:ea typeface="Arial"/>
                <a:cs typeface="Arial"/>
              </a:defRPr>
            </a:lvl8pPr>
            <a:lvl9pPr>
              <a:defRPr sz="1650">
                <a:solidFill>
                  <a:srgbClr val="BC6B47"/>
                </a:solidFill>
                <a:latin typeface="Arial"/>
                <a:ea typeface="Arial"/>
                <a:cs typeface="Arial"/>
              </a:defRPr>
            </a:lvl9pPr>
          </a:lstStyle>
          <a:p xmlns:a="http://schemas.openxmlformats.org/drawingml/2006/main">
            <a:pPr>
              <a:defRPr sz="1650">
                <a:solidFill>
                  <a:srgbClr val="BC6B47"/>
                </a:solidFill>
              </a:defRPr>
            </a:pPr>
            <a:r>
              <a:rPr sz="1650">
                <a:solidFill>
                  <a:srgbClr val="BC6B47"/>
                </a:solidFill>
                <a:latin typeface="Arial"/>
                <a:ea typeface="Arial"/>
                <a:cs typeface="Arial"/>
              </a:rPr>
              <a:t>SASEHacks for Good</a:t>
            </a:r>
          </a:p>
        </p:txBody>
      </p:sp>
    </p:spTree>
    <p:extLst>
      <p:ext uri="{BB962C8B-B14F-4D97-AF65-F5344CB8AC3E}">
        <p14:creationId xmlns:p14="http://schemas.microsoft.com/office/powerpoint/2010/main" val="2051633394"/>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B51CAD-49EB-4C83-99F3-CDBF2474F73B}"/>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5426B6E6-F80E-4995-8962-3A6748B26DF3}"/>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3E3498C-42D1-4C28-B6A1-99472F32DABF}"/>
              </a:ext>
            </a:extLst>
          </p:cNvPr>
          <p:cNvSpPr>
            <a:spLocks xmlns:a="http://schemas.openxmlformats.org/drawingml/2006/main" noGrp="1"/>
          </p:cNvSpPr>
          <p:nvPr/>
        </p:nvSpPr>
        <p:spPr>
          <a:xfrm xmlns:a="http://schemas.openxmlformats.org/drawingml/2006/main">
            <a:off x="685800" y="1047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75">
                <a:solidFill>
                  <a:srgbClr val="30372F"/>
                </a:solidFill>
                <a:latin typeface="Georgia"/>
                <a:ea typeface="Georgia"/>
                <a:cs typeface="Georgia"/>
              </a:defRPr>
            </a:defPPr>
            <a:lvl1pPr>
              <a:defRPr sz="3975">
                <a:solidFill>
                  <a:srgbClr val="30372F"/>
                </a:solidFill>
                <a:latin typeface="Georgia"/>
                <a:ea typeface="Georgia"/>
                <a:cs typeface="Georgia"/>
              </a:defRPr>
            </a:lvl1pPr>
            <a:lvl2pPr>
              <a:defRPr sz="3975">
                <a:solidFill>
                  <a:srgbClr val="30372F"/>
                </a:solidFill>
                <a:latin typeface="Georgia"/>
                <a:ea typeface="Georgia"/>
                <a:cs typeface="Georgia"/>
              </a:defRPr>
            </a:lvl2pPr>
            <a:lvl3pPr>
              <a:defRPr sz="3975">
                <a:solidFill>
                  <a:srgbClr val="30372F"/>
                </a:solidFill>
                <a:latin typeface="Georgia"/>
                <a:ea typeface="Georgia"/>
                <a:cs typeface="Georgia"/>
              </a:defRPr>
            </a:lvl3pPr>
            <a:lvl4pPr>
              <a:defRPr sz="3975">
                <a:solidFill>
                  <a:srgbClr val="30372F"/>
                </a:solidFill>
                <a:latin typeface="Georgia"/>
                <a:ea typeface="Georgia"/>
                <a:cs typeface="Georgia"/>
              </a:defRPr>
            </a:lvl4pPr>
            <a:lvl5pPr>
              <a:defRPr sz="3975">
                <a:solidFill>
                  <a:srgbClr val="30372F"/>
                </a:solidFill>
                <a:latin typeface="Georgia"/>
                <a:ea typeface="Georgia"/>
                <a:cs typeface="Georgia"/>
              </a:defRPr>
            </a:lvl5pPr>
            <a:lvl6pPr>
              <a:defRPr sz="3975">
                <a:solidFill>
                  <a:srgbClr val="30372F"/>
                </a:solidFill>
                <a:latin typeface="Georgia"/>
                <a:ea typeface="Georgia"/>
                <a:cs typeface="Georgia"/>
              </a:defRPr>
            </a:lvl6pPr>
            <a:lvl7pPr>
              <a:defRPr sz="3975">
                <a:solidFill>
                  <a:srgbClr val="30372F"/>
                </a:solidFill>
                <a:latin typeface="Georgia"/>
                <a:ea typeface="Georgia"/>
                <a:cs typeface="Georgia"/>
              </a:defRPr>
            </a:lvl7pPr>
            <a:lvl8pPr>
              <a:defRPr sz="3975">
                <a:solidFill>
                  <a:srgbClr val="30372F"/>
                </a:solidFill>
                <a:latin typeface="Georgia"/>
                <a:ea typeface="Georgia"/>
                <a:cs typeface="Georgia"/>
              </a:defRPr>
            </a:lvl8pPr>
            <a:lvl9pPr>
              <a:defRPr sz="3975">
                <a:solidFill>
                  <a:srgbClr val="30372F"/>
                </a:solidFill>
                <a:latin typeface="Georgia"/>
                <a:ea typeface="Georgia"/>
                <a:cs typeface="Georgia"/>
              </a:defRPr>
            </a:lvl9pPr>
          </a:lstStyle>
          <a:p xmlns:a="http://schemas.openxmlformats.org/drawingml/2006/main">
            <a:pPr>
              <a:defRPr sz="3975">
                <a:solidFill>
                  <a:srgbClr val="30372F"/>
                </a:solidFill>
              </a:defRPr>
            </a:pPr>
            <a:r>
              <a:rPr sz="3975">
                <a:solidFill>
                  <a:srgbClr val="30372F"/>
                </a:solidFill>
                <a:latin typeface="Georgia"/>
                <a:ea typeface="Georgia"/>
                <a:cs typeface="Georgia"/>
              </a:rPr>
              <a:t>Everyday sound has context</a:t>
            </a:r>
          </a:p>
        </p:txBody>
      </p:sp>
      <p:sp>
        <p:nvSpPr>
          <p:cNvPr id="5" name="">
            <a:extLst xmlns:a="http://schemas.openxmlformats.org/drawingml/2006/main">
              <a:ext uri="{FF2B5EF4-FFF2-40B4-BE49-F238E27FC236}">
                <a16:creationId xmlns:a16="http://schemas.microsoft.com/office/drawing/2014/main" id="{1A209C02-674E-4582-AE7B-3597C48C0035}"/>
              </a:ext>
            </a:extLst>
          </p:cNvPr>
          <p:cNvSpPr>
            <a:spLocks xmlns:a="http://schemas.openxmlformats.org/drawingml/2006/main" noGrp="1"/>
          </p:cNvSpPr>
          <p:nvPr/>
        </p:nvSpPr>
        <p:spPr>
          <a:xfrm xmlns:a="http://schemas.openxmlformats.org/drawingml/2006/main">
            <a:off x="723900" y="2247900"/>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425">
                <a:solidFill>
                  <a:srgbClr val="BC6B47"/>
                </a:solidFill>
                <a:latin typeface="Georgia"/>
                <a:ea typeface="Georgia"/>
                <a:cs typeface="Georgia"/>
              </a:defRPr>
            </a:defPPr>
            <a:lvl1pPr>
              <a:defRPr sz="4425">
                <a:solidFill>
                  <a:srgbClr val="BC6B47"/>
                </a:solidFill>
                <a:latin typeface="Georgia"/>
                <a:ea typeface="Georgia"/>
                <a:cs typeface="Georgia"/>
              </a:defRPr>
            </a:lvl1pPr>
            <a:lvl2pPr>
              <a:defRPr sz="4425">
                <a:solidFill>
                  <a:srgbClr val="BC6B47"/>
                </a:solidFill>
                <a:latin typeface="Georgia"/>
                <a:ea typeface="Georgia"/>
                <a:cs typeface="Georgia"/>
              </a:defRPr>
            </a:lvl2pPr>
            <a:lvl3pPr>
              <a:defRPr sz="4425">
                <a:solidFill>
                  <a:srgbClr val="BC6B47"/>
                </a:solidFill>
                <a:latin typeface="Georgia"/>
                <a:ea typeface="Georgia"/>
                <a:cs typeface="Georgia"/>
              </a:defRPr>
            </a:lvl3pPr>
            <a:lvl4pPr>
              <a:defRPr sz="4425">
                <a:solidFill>
                  <a:srgbClr val="BC6B47"/>
                </a:solidFill>
                <a:latin typeface="Georgia"/>
                <a:ea typeface="Georgia"/>
                <a:cs typeface="Georgia"/>
              </a:defRPr>
            </a:lvl4pPr>
            <a:lvl5pPr>
              <a:defRPr sz="4425">
                <a:solidFill>
                  <a:srgbClr val="BC6B47"/>
                </a:solidFill>
                <a:latin typeface="Georgia"/>
                <a:ea typeface="Georgia"/>
                <a:cs typeface="Georgia"/>
              </a:defRPr>
            </a:lvl5pPr>
            <a:lvl6pPr>
              <a:defRPr sz="4425">
                <a:solidFill>
                  <a:srgbClr val="BC6B47"/>
                </a:solidFill>
                <a:latin typeface="Georgia"/>
                <a:ea typeface="Georgia"/>
                <a:cs typeface="Georgia"/>
              </a:defRPr>
            </a:lvl6pPr>
            <a:lvl7pPr>
              <a:defRPr sz="4425">
                <a:solidFill>
                  <a:srgbClr val="BC6B47"/>
                </a:solidFill>
                <a:latin typeface="Georgia"/>
                <a:ea typeface="Georgia"/>
                <a:cs typeface="Georgia"/>
              </a:defRPr>
            </a:lvl7pPr>
            <a:lvl8pPr>
              <a:defRPr sz="4425">
                <a:solidFill>
                  <a:srgbClr val="BC6B47"/>
                </a:solidFill>
                <a:latin typeface="Georgia"/>
                <a:ea typeface="Georgia"/>
                <a:cs typeface="Georgia"/>
              </a:defRPr>
            </a:lvl8pPr>
            <a:lvl9pPr>
              <a:defRPr sz="4425">
                <a:solidFill>
                  <a:srgbClr val="BC6B47"/>
                </a:solidFill>
                <a:latin typeface="Georgia"/>
                <a:ea typeface="Georgia"/>
                <a:cs typeface="Georgia"/>
              </a:defRPr>
            </a:lvl9pPr>
          </a:lstStyle>
          <a:p xmlns:a="http://schemas.openxmlformats.org/drawingml/2006/main">
            <a:pPr>
              <a:defRPr sz="4425">
                <a:solidFill>
                  <a:srgbClr val="BC6B47"/>
                </a:solidFill>
              </a:defRPr>
            </a:pPr>
            <a:r>
              <a:rPr sz="4425">
                <a:solidFill>
                  <a:srgbClr val="BC6B47"/>
                </a:solidFill>
                <a:latin typeface="Georgia"/>
                <a:ea typeface="Georgia"/>
                <a:cs typeface="Georgia"/>
              </a:rPr>
              <a:t>“Was that my name?”</a:t>
            </a:r>
          </a:p>
        </p:txBody>
      </p:sp>
      <p:sp>
        <p:nvSpPr>
          <p:cNvPr id="6" name="">
            <a:extLst xmlns:a="http://schemas.openxmlformats.org/drawingml/2006/main">
              <a:ext uri="{FF2B5EF4-FFF2-40B4-BE49-F238E27FC236}">
                <a16:creationId xmlns:a16="http://schemas.microsoft.com/office/drawing/2014/main" id="{41B32AC1-4663-440E-AAF4-06984826A657}"/>
              </a:ext>
            </a:extLst>
          </p:cNvPr>
          <p:cNvSpPr>
            <a:spLocks xmlns:a="http://schemas.openxmlformats.org/drawingml/2006/main" noGrp="1"/>
          </p:cNvSpPr>
          <p:nvPr/>
        </p:nvSpPr>
        <p:spPr>
          <a:xfrm xmlns:a="http://schemas.openxmlformats.org/drawingml/2006/main">
            <a:off x="723900" y="334327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75">
                <a:solidFill>
                  <a:srgbClr val="30372F"/>
                </a:solidFill>
                <a:latin typeface="Georgia"/>
                <a:ea typeface="Georgia"/>
                <a:cs typeface="Georgia"/>
              </a:defRPr>
            </a:defPPr>
            <a:lvl1pPr>
              <a:defRPr sz="3975">
                <a:solidFill>
                  <a:srgbClr val="30372F"/>
                </a:solidFill>
                <a:latin typeface="Georgia"/>
                <a:ea typeface="Georgia"/>
                <a:cs typeface="Georgia"/>
              </a:defRPr>
            </a:lvl1pPr>
            <a:lvl2pPr>
              <a:defRPr sz="3975">
                <a:solidFill>
                  <a:srgbClr val="30372F"/>
                </a:solidFill>
                <a:latin typeface="Georgia"/>
                <a:ea typeface="Georgia"/>
                <a:cs typeface="Georgia"/>
              </a:defRPr>
            </a:lvl2pPr>
            <a:lvl3pPr>
              <a:defRPr sz="3975">
                <a:solidFill>
                  <a:srgbClr val="30372F"/>
                </a:solidFill>
                <a:latin typeface="Georgia"/>
                <a:ea typeface="Georgia"/>
                <a:cs typeface="Georgia"/>
              </a:defRPr>
            </a:lvl3pPr>
            <a:lvl4pPr>
              <a:defRPr sz="3975">
                <a:solidFill>
                  <a:srgbClr val="30372F"/>
                </a:solidFill>
                <a:latin typeface="Georgia"/>
                <a:ea typeface="Georgia"/>
                <a:cs typeface="Georgia"/>
              </a:defRPr>
            </a:lvl4pPr>
            <a:lvl5pPr>
              <a:defRPr sz="3975">
                <a:solidFill>
                  <a:srgbClr val="30372F"/>
                </a:solidFill>
                <a:latin typeface="Georgia"/>
                <a:ea typeface="Georgia"/>
                <a:cs typeface="Georgia"/>
              </a:defRPr>
            </a:lvl5pPr>
            <a:lvl6pPr>
              <a:defRPr sz="3975">
                <a:solidFill>
                  <a:srgbClr val="30372F"/>
                </a:solidFill>
                <a:latin typeface="Georgia"/>
                <a:ea typeface="Georgia"/>
                <a:cs typeface="Georgia"/>
              </a:defRPr>
            </a:lvl6pPr>
            <a:lvl7pPr>
              <a:defRPr sz="3975">
                <a:solidFill>
                  <a:srgbClr val="30372F"/>
                </a:solidFill>
                <a:latin typeface="Georgia"/>
                <a:ea typeface="Georgia"/>
                <a:cs typeface="Georgia"/>
              </a:defRPr>
            </a:lvl7pPr>
            <a:lvl8pPr>
              <a:defRPr sz="3975">
                <a:solidFill>
                  <a:srgbClr val="30372F"/>
                </a:solidFill>
                <a:latin typeface="Georgia"/>
                <a:ea typeface="Georgia"/>
                <a:cs typeface="Georgia"/>
              </a:defRPr>
            </a:lvl8pPr>
            <a:lvl9pPr>
              <a:defRPr sz="3975">
                <a:solidFill>
                  <a:srgbClr val="30372F"/>
                </a:solidFill>
                <a:latin typeface="Georgia"/>
                <a:ea typeface="Georgia"/>
                <a:cs typeface="Georgia"/>
              </a:defRPr>
            </a:lvl9pPr>
          </a:lstStyle>
          <a:p xmlns:a="http://schemas.openxmlformats.org/drawingml/2006/main">
            <a:pPr>
              <a:defRPr sz="3975">
                <a:solidFill>
                  <a:srgbClr val="30372F"/>
                </a:solidFill>
              </a:defRPr>
            </a:pPr>
            <a:r>
              <a:rPr sz="3975">
                <a:solidFill>
                  <a:srgbClr val="30372F"/>
                </a:solidFill>
                <a:latin typeface="Georgia"/>
                <a:ea typeface="Georgia"/>
                <a:cs typeface="Georgia"/>
              </a:rPr>
              <a:t>“What did that announcement say?”</a:t>
            </a:r>
          </a:p>
        </p:txBody>
      </p:sp>
      <p:sp>
        <p:nvSpPr>
          <p:cNvPr id="7" name="">
            <a:extLst xmlns:a="http://schemas.openxmlformats.org/drawingml/2006/main">
              <a:ext uri="{FF2B5EF4-FFF2-40B4-BE49-F238E27FC236}">
                <a16:creationId xmlns:a16="http://schemas.microsoft.com/office/drawing/2014/main" id="{D6D1AE61-E212-4A63-BAD1-FD8668E4FE98}"/>
              </a:ext>
            </a:extLst>
          </p:cNvPr>
          <p:cNvSpPr>
            <a:spLocks xmlns:a="http://schemas.openxmlformats.org/drawingml/2006/main" noGrp="1"/>
          </p:cNvSpPr>
          <p:nvPr/>
        </p:nvSpPr>
        <p:spPr>
          <a:xfrm xmlns:a="http://schemas.openxmlformats.org/drawingml/2006/main">
            <a:off x="723900" y="4905375"/>
            <a:ext cx="1038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a:solidFill>
                  <a:srgbClr val="65715A"/>
                </a:solidFill>
                <a:latin typeface="Arial"/>
                <a:ea typeface="Arial"/>
                <a:cs typeface="Arial"/>
              </a:defRPr>
            </a:defPPr>
            <a:lvl1pPr>
              <a:defRPr sz="2100">
                <a:solidFill>
                  <a:srgbClr val="65715A"/>
                </a:solidFill>
                <a:latin typeface="Arial"/>
                <a:ea typeface="Arial"/>
                <a:cs typeface="Arial"/>
              </a:defRPr>
            </a:lvl1pPr>
            <a:lvl2pPr>
              <a:defRPr sz="2100">
                <a:solidFill>
                  <a:srgbClr val="65715A"/>
                </a:solidFill>
                <a:latin typeface="Arial"/>
                <a:ea typeface="Arial"/>
                <a:cs typeface="Arial"/>
              </a:defRPr>
            </a:lvl2pPr>
            <a:lvl3pPr>
              <a:defRPr sz="2100">
                <a:solidFill>
                  <a:srgbClr val="65715A"/>
                </a:solidFill>
                <a:latin typeface="Arial"/>
                <a:ea typeface="Arial"/>
                <a:cs typeface="Arial"/>
              </a:defRPr>
            </a:lvl3pPr>
            <a:lvl4pPr>
              <a:defRPr sz="2100">
                <a:solidFill>
                  <a:srgbClr val="65715A"/>
                </a:solidFill>
                <a:latin typeface="Arial"/>
                <a:ea typeface="Arial"/>
                <a:cs typeface="Arial"/>
              </a:defRPr>
            </a:lvl4pPr>
            <a:lvl5pPr>
              <a:defRPr sz="2100">
                <a:solidFill>
                  <a:srgbClr val="65715A"/>
                </a:solidFill>
                <a:latin typeface="Arial"/>
                <a:ea typeface="Arial"/>
                <a:cs typeface="Arial"/>
              </a:defRPr>
            </a:lvl5pPr>
            <a:lvl6pPr>
              <a:defRPr sz="2100">
                <a:solidFill>
                  <a:srgbClr val="65715A"/>
                </a:solidFill>
                <a:latin typeface="Arial"/>
                <a:ea typeface="Arial"/>
                <a:cs typeface="Arial"/>
              </a:defRPr>
            </a:lvl6pPr>
            <a:lvl7pPr>
              <a:defRPr sz="2100">
                <a:solidFill>
                  <a:srgbClr val="65715A"/>
                </a:solidFill>
                <a:latin typeface="Arial"/>
                <a:ea typeface="Arial"/>
                <a:cs typeface="Arial"/>
              </a:defRPr>
            </a:lvl7pPr>
            <a:lvl8pPr>
              <a:defRPr sz="2100">
                <a:solidFill>
                  <a:srgbClr val="65715A"/>
                </a:solidFill>
                <a:latin typeface="Arial"/>
                <a:ea typeface="Arial"/>
                <a:cs typeface="Arial"/>
              </a:defRPr>
            </a:lvl8pPr>
            <a:lvl9pPr>
              <a:defRPr sz="2100">
                <a:solidFill>
                  <a:srgbClr val="65715A"/>
                </a:solidFill>
                <a:latin typeface="Arial"/>
                <a:ea typeface="Arial"/>
                <a:cs typeface="Arial"/>
              </a:defRPr>
            </a:lvl9pPr>
          </a:lstStyle>
          <a:p xmlns:a="http://schemas.openxmlformats.org/drawingml/2006/main">
            <a:pPr>
              <a:defRPr sz="2100">
                <a:solidFill>
                  <a:srgbClr val="65715A"/>
                </a:solidFill>
              </a:defRPr>
            </a:pPr>
            <a:r>
              <a:rPr sz="2100">
                <a:solidFill>
                  <a:srgbClr val="65715A"/>
                </a:solidFill>
                <a:latin typeface="Arial"/>
                <a:ea typeface="Arial"/>
                <a:cs typeface="Arial"/>
              </a:rPr>
              <a:t>A short conversation can make an unfamiliar sound understandable.</a:t>
            </a:r>
          </a:p>
          <a:p xmlns:a="http://schemas.openxmlformats.org/drawingml/2006/main">
            <a:pPr>
              <a:defRPr sz="2100">
                <a:solidFill>
                  <a:srgbClr val="65715A"/>
                </a:solidFill>
              </a:defRPr>
            </a:pPr>
            <a:r>
              <a:rPr sz="2100">
                <a:solidFill>
                  <a:srgbClr val="65715A"/>
                </a:solidFill>
                <a:latin typeface="Arial"/>
                <a:ea typeface="Arial"/>
                <a:cs typeface="Arial"/>
              </a:rPr>
              <a:t>The person asking decides what to share and what to ask.</a:t>
            </a:r>
          </a:p>
        </p:txBody>
      </p:sp>
    </p:spTree>
    <p:extLst>
      <p:ext uri="{BB962C8B-B14F-4D97-AF65-F5344CB8AC3E}">
        <p14:creationId xmlns:p14="http://schemas.microsoft.com/office/powerpoint/2010/main" val="511602675"/>
      </p:ext>
    </p:extLst>
  </p:cSld>
</p:sld>
</file>

<file path=ppt/slides/slide3.xml><?xml version="1.0" encoding="utf-8"?>
<p:sld xmlns:p="http://schemas.openxmlformats.org/presentationml/2006/main">
  <p:cSld>
    <p:bg>
      <p:bgPr>
        <a:solidFill xmlns:a="http://schemas.openxmlformats.org/drawingml/2006/main">
          <a:srgbClr val="E8EDD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8381EC-6FDC-45AE-A3BC-0DE81C3FDA23}"/>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DAF02A3C-E1B3-4CBB-A1FA-28815C7CC547}"/>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B2206D2-4F13-4082-9CEA-62501D472583}"/>
              </a:ext>
            </a:extLst>
          </p:cNvPr>
          <p:cNvSpPr>
            <a:spLocks xmlns:a="http://schemas.openxmlformats.org/drawingml/2006/main" noGrp="1"/>
          </p:cNvSpPr>
          <p:nvPr/>
        </p:nvSpPr>
        <p:spPr>
          <a:xfrm xmlns:a="http://schemas.openxmlformats.org/drawingml/2006/main">
            <a:off x="685800" y="1047750"/>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00">
                <a:solidFill>
                  <a:srgbClr val="30372F"/>
                </a:solidFill>
                <a:latin typeface="Georgia"/>
                <a:ea typeface="Georgia"/>
                <a:cs typeface="Georgia"/>
              </a:defRPr>
            </a:defPPr>
            <a:lvl1pPr>
              <a:defRPr sz="3600">
                <a:solidFill>
                  <a:srgbClr val="30372F"/>
                </a:solidFill>
                <a:latin typeface="Georgia"/>
                <a:ea typeface="Georgia"/>
                <a:cs typeface="Georgia"/>
              </a:defRPr>
            </a:lvl1pPr>
            <a:lvl2pPr>
              <a:defRPr sz="3600">
                <a:solidFill>
                  <a:srgbClr val="30372F"/>
                </a:solidFill>
                <a:latin typeface="Georgia"/>
                <a:ea typeface="Georgia"/>
                <a:cs typeface="Georgia"/>
              </a:defRPr>
            </a:lvl2pPr>
            <a:lvl3pPr>
              <a:defRPr sz="3600">
                <a:solidFill>
                  <a:srgbClr val="30372F"/>
                </a:solidFill>
                <a:latin typeface="Georgia"/>
                <a:ea typeface="Georgia"/>
                <a:cs typeface="Georgia"/>
              </a:defRPr>
            </a:lvl3pPr>
            <a:lvl4pPr>
              <a:defRPr sz="3600">
                <a:solidFill>
                  <a:srgbClr val="30372F"/>
                </a:solidFill>
                <a:latin typeface="Georgia"/>
                <a:ea typeface="Georgia"/>
                <a:cs typeface="Georgia"/>
              </a:defRPr>
            </a:lvl4pPr>
            <a:lvl5pPr>
              <a:defRPr sz="3600">
                <a:solidFill>
                  <a:srgbClr val="30372F"/>
                </a:solidFill>
                <a:latin typeface="Georgia"/>
                <a:ea typeface="Georgia"/>
                <a:cs typeface="Georgia"/>
              </a:defRPr>
            </a:lvl5pPr>
            <a:lvl6pPr>
              <a:defRPr sz="3600">
                <a:solidFill>
                  <a:srgbClr val="30372F"/>
                </a:solidFill>
                <a:latin typeface="Georgia"/>
                <a:ea typeface="Georgia"/>
                <a:cs typeface="Georgia"/>
              </a:defRPr>
            </a:lvl6pPr>
            <a:lvl7pPr>
              <a:defRPr sz="3600">
                <a:solidFill>
                  <a:srgbClr val="30372F"/>
                </a:solidFill>
                <a:latin typeface="Georgia"/>
                <a:ea typeface="Georgia"/>
                <a:cs typeface="Georgia"/>
              </a:defRPr>
            </a:lvl7pPr>
            <a:lvl8pPr>
              <a:defRPr sz="3600">
                <a:solidFill>
                  <a:srgbClr val="30372F"/>
                </a:solidFill>
                <a:latin typeface="Georgia"/>
                <a:ea typeface="Georgia"/>
                <a:cs typeface="Georgia"/>
              </a:defRPr>
            </a:lvl8pPr>
            <a:lvl9pPr>
              <a:defRPr sz="3600">
                <a:solidFill>
                  <a:srgbClr val="30372F"/>
                </a:solidFill>
                <a:latin typeface="Georgia"/>
                <a:ea typeface="Georgia"/>
                <a:cs typeface="Georgia"/>
              </a:defRPr>
            </a:lvl9pPr>
          </a:lstStyle>
          <a:p xmlns:a="http://schemas.openxmlformats.org/drawingml/2006/main">
            <a:pPr>
              <a:defRPr sz="3975">
                <a:solidFill>
                  <a:srgbClr val="30372F"/>
                </a:solidFill>
              </a:defRPr>
            </a:pPr>
            <a:r>
              <a:rPr sz="3600">
                <a:solidFill>
                  <a:srgbClr val="30372F"/>
                </a:solidFill>
                <a:latin typeface="Georgia"/>
                <a:ea typeface="Georgia"/>
                <a:cs typeface="Georgia"/>
              </a:rPr>
              <a:t>A person on the other end</a:t>
            </a:r>
          </a:p>
        </p:txBody>
      </p:sp>
      <p:sp>
        <p:nvSpPr>
          <p:cNvPr id="5" name="">
            <a:extLst xmlns:a="http://schemas.openxmlformats.org/drawingml/2006/main">
              <a:ext uri="{FF2B5EF4-FFF2-40B4-BE49-F238E27FC236}">
                <a16:creationId xmlns:a16="http://schemas.microsoft.com/office/drawing/2014/main" id="{C3D62740-D981-4B09-BEA0-E77C8843C44C}"/>
              </a:ext>
            </a:extLst>
          </p:cNvPr>
          <p:cNvSpPr>
            <a:spLocks xmlns:a="http://schemas.openxmlformats.org/drawingml/2006/main" noGrp="1"/>
          </p:cNvSpPr>
          <p:nvPr/>
        </p:nvSpPr>
        <p:spPr>
          <a:xfrm xmlns:a="http://schemas.openxmlformats.org/drawingml/2006/main">
            <a:off x="723900" y="2257425"/>
            <a:ext cx="685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a:solidFill>
                  <a:srgbClr val="30372F"/>
                </a:solidFill>
                <a:latin typeface="Georgia"/>
                <a:ea typeface="Georgia"/>
                <a:cs typeface="Georgia"/>
              </a:defRPr>
            </a:defPPr>
            <a:lvl1pPr>
              <a:defRPr sz="3000">
                <a:solidFill>
                  <a:srgbClr val="30372F"/>
                </a:solidFill>
                <a:latin typeface="Georgia"/>
                <a:ea typeface="Georgia"/>
                <a:cs typeface="Georgia"/>
              </a:defRPr>
            </a:lvl1pPr>
            <a:lvl2pPr>
              <a:defRPr sz="3000">
                <a:solidFill>
                  <a:srgbClr val="30372F"/>
                </a:solidFill>
                <a:latin typeface="Georgia"/>
                <a:ea typeface="Georgia"/>
                <a:cs typeface="Georgia"/>
              </a:defRPr>
            </a:lvl2pPr>
            <a:lvl3pPr>
              <a:defRPr sz="3000">
                <a:solidFill>
                  <a:srgbClr val="30372F"/>
                </a:solidFill>
                <a:latin typeface="Georgia"/>
                <a:ea typeface="Georgia"/>
                <a:cs typeface="Georgia"/>
              </a:defRPr>
            </a:lvl3pPr>
            <a:lvl4pPr>
              <a:defRPr sz="3000">
                <a:solidFill>
                  <a:srgbClr val="30372F"/>
                </a:solidFill>
                <a:latin typeface="Georgia"/>
                <a:ea typeface="Georgia"/>
                <a:cs typeface="Georgia"/>
              </a:defRPr>
            </a:lvl4pPr>
            <a:lvl5pPr>
              <a:defRPr sz="3000">
                <a:solidFill>
                  <a:srgbClr val="30372F"/>
                </a:solidFill>
                <a:latin typeface="Georgia"/>
                <a:ea typeface="Georgia"/>
                <a:cs typeface="Georgia"/>
              </a:defRPr>
            </a:lvl5pPr>
            <a:lvl6pPr>
              <a:defRPr sz="3000">
                <a:solidFill>
                  <a:srgbClr val="30372F"/>
                </a:solidFill>
                <a:latin typeface="Georgia"/>
                <a:ea typeface="Georgia"/>
                <a:cs typeface="Georgia"/>
              </a:defRPr>
            </a:lvl6pPr>
            <a:lvl7pPr>
              <a:defRPr sz="3000">
                <a:solidFill>
                  <a:srgbClr val="30372F"/>
                </a:solidFill>
                <a:latin typeface="Georgia"/>
                <a:ea typeface="Georgia"/>
                <a:cs typeface="Georgia"/>
              </a:defRPr>
            </a:lvl7pPr>
            <a:lvl8pPr>
              <a:defRPr sz="3000">
                <a:solidFill>
                  <a:srgbClr val="30372F"/>
                </a:solidFill>
                <a:latin typeface="Georgia"/>
                <a:ea typeface="Georgia"/>
                <a:cs typeface="Georgia"/>
              </a:defRPr>
            </a:lvl8pPr>
            <a:lvl9pPr>
              <a:defRPr sz="3000">
                <a:solidFill>
                  <a:srgbClr val="30372F"/>
                </a:solidFill>
                <a:latin typeface="Georgia"/>
                <a:ea typeface="Georgia"/>
                <a:cs typeface="Georgia"/>
              </a:defRPr>
            </a:lvl9pPr>
          </a:lstStyle>
          <a:p xmlns:a="http://schemas.openxmlformats.org/drawingml/2006/main">
            <a:pPr>
              <a:defRPr sz="3000">
                <a:solidFill>
                  <a:srgbClr val="30372F"/>
                </a:solidFill>
              </a:defRPr>
            </a:pPr>
            <a:r>
              <a:rPr sz="3000">
                <a:solidFill>
                  <a:srgbClr val="30372F"/>
                </a:solidFill>
                <a:latin typeface="Georgia"/>
                <a:ea typeface="Georgia"/>
                <a:cs typeface="Georgia"/>
              </a:rPr>
              <a:t>Ask for help</a:t>
            </a:r>
          </a:p>
        </p:txBody>
      </p:sp>
      <p:sp>
        <p:nvSpPr>
          <p:cNvPr id="6" name="">
            <a:extLst xmlns:a="http://schemas.openxmlformats.org/drawingml/2006/main">
              <a:ext uri="{FF2B5EF4-FFF2-40B4-BE49-F238E27FC236}">
                <a16:creationId xmlns:a16="http://schemas.microsoft.com/office/drawing/2014/main" id="{C9CC0D0E-292A-45E4-9F6D-3F2CCA30D2BA}"/>
              </a:ext>
            </a:extLst>
          </p:cNvPr>
          <p:cNvSpPr>
            <a:spLocks xmlns:a="http://schemas.openxmlformats.org/drawingml/2006/main" noGrp="1"/>
          </p:cNvSpPr>
          <p:nvPr/>
        </p:nvSpPr>
        <p:spPr>
          <a:xfrm xmlns:a="http://schemas.openxmlformats.org/drawingml/2006/main">
            <a:off x="723900" y="2943225"/>
            <a:ext cx="685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a:solidFill>
                  <a:srgbClr val="65715A"/>
                </a:solidFill>
                <a:latin typeface="Arial"/>
                <a:ea typeface="Arial"/>
                <a:cs typeface="Arial"/>
              </a:defRPr>
            </a:defPPr>
            <a:lvl1pPr>
              <a:defRPr sz="2025">
                <a:solidFill>
                  <a:srgbClr val="65715A"/>
                </a:solidFill>
                <a:latin typeface="Arial"/>
                <a:ea typeface="Arial"/>
                <a:cs typeface="Arial"/>
              </a:defRPr>
            </a:lvl1pPr>
            <a:lvl2pPr>
              <a:defRPr sz="2025">
                <a:solidFill>
                  <a:srgbClr val="65715A"/>
                </a:solidFill>
                <a:latin typeface="Arial"/>
                <a:ea typeface="Arial"/>
                <a:cs typeface="Arial"/>
              </a:defRPr>
            </a:lvl2pPr>
            <a:lvl3pPr>
              <a:defRPr sz="2025">
                <a:solidFill>
                  <a:srgbClr val="65715A"/>
                </a:solidFill>
                <a:latin typeface="Arial"/>
                <a:ea typeface="Arial"/>
                <a:cs typeface="Arial"/>
              </a:defRPr>
            </a:lvl3pPr>
            <a:lvl4pPr>
              <a:defRPr sz="2025">
                <a:solidFill>
                  <a:srgbClr val="65715A"/>
                </a:solidFill>
                <a:latin typeface="Arial"/>
                <a:ea typeface="Arial"/>
                <a:cs typeface="Arial"/>
              </a:defRPr>
            </a:lvl4pPr>
            <a:lvl5pPr>
              <a:defRPr sz="2025">
                <a:solidFill>
                  <a:srgbClr val="65715A"/>
                </a:solidFill>
                <a:latin typeface="Arial"/>
                <a:ea typeface="Arial"/>
                <a:cs typeface="Arial"/>
              </a:defRPr>
            </a:lvl5pPr>
            <a:lvl6pPr>
              <a:defRPr sz="2025">
                <a:solidFill>
                  <a:srgbClr val="65715A"/>
                </a:solidFill>
                <a:latin typeface="Arial"/>
                <a:ea typeface="Arial"/>
                <a:cs typeface="Arial"/>
              </a:defRPr>
            </a:lvl6pPr>
            <a:lvl7pPr>
              <a:defRPr sz="2025">
                <a:solidFill>
                  <a:srgbClr val="65715A"/>
                </a:solidFill>
                <a:latin typeface="Arial"/>
                <a:ea typeface="Arial"/>
                <a:cs typeface="Arial"/>
              </a:defRPr>
            </a:lvl7pPr>
            <a:lvl8pPr>
              <a:defRPr sz="2025">
                <a:solidFill>
                  <a:srgbClr val="65715A"/>
                </a:solidFill>
                <a:latin typeface="Arial"/>
                <a:ea typeface="Arial"/>
                <a:cs typeface="Arial"/>
              </a:defRPr>
            </a:lvl8pPr>
            <a:lvl9pPr>
              <a:defRPr sz="2025">
                <a:solidFill>
                  <a:srgbClr val="65715A"/>
                </a:solidFill>
                <a:latin typeface="Arial"/>
                <a:ea typeface="Arial"/>
                <a:cs typeface="Arial"/>
              </a:defRPr>
            </a:lvl9pPr>
          </a:lstStyle>
          <a:p xmlns:a="http://schemas.openxmlformats.org/drawingml/2006/main">
            <a:pPr>
              <a:defRPr sz="2025">
                <a:solidFill>
                  <a:srgbClr val="65715A"/>
                </a:solidFill>
              </a:defRPr>
            </a:pPr>
            <a:r>
              <a:rPr sz="2025">
                <a:solidFill>
                  <a:srgbClr val="65715A"/>
                </a:solidFill>
                <a:latin typeface="Arial"/>
                <a:ea typeface="Arial"/>
                <a:cs typeface="Arial"/>
              </a:rPr>
              <a:t>A nickname and an optional camera check.</a:t>
            </a:r>
          </a:p>
        </p:txBody>
      </p:sp>
      <p:sp>
        <p:nvSpPr>
          <p:cNvPr id="7" name="">
            <a:extLst xmlns:a="http://schemas.openxmlformats.org/drawingml/2006/main">
              <a:ext uri="{FF2B5EF4-FFF2-40B4-BE49-F238E27FC236}">
                <a16:creationId xmlns:a16="http://schemas.microsoft.com/office/drawing/2014/main" id="{0F36BDD1-7AFB-43B4-9137-7DE0D4915707}"/>
              </a:ext>
            </a:extLst>
          </p:cNvPr>
          <p:cNvSpPr>
            <a:spLocks xmlns:a="http://schemas.openxmlformats.org/drawingml/2006/main" noGrp="1"/>
          </p:cNvSpPr>
          <p:nvPr/>
        </p:nvSpPr>
        <p:spPr>
          <a:xfrm xmlns:a="http://schemas.openxmlformats.org/drawingml/2006/main">
            <a:off x="723900" y="3733800"/>
            <a:ext cx="685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a:solidFill>
                  <a:srgbClr val="30372F"/>
                </a:solidFill>
                <a:latin typeface="Georgia"/>
                <a:ea typeface="Georgia"/>
                <a:cs typeface="Georgia"/>
              </a:defRPr>
            </a:defPPr>
            <a:lvl1pPr>
              <a:defRPr sz="3000">
                <a:solidFill>
                  <a:srgbClr val="30372F"/>
                </a:solidFill>
                <a:latin typeface="Georgia"/>
                <a:ea typeface="Georgia"/>
                <a:cs typeface="Georgia"/>
              </a:defRPr>
            </a:lvl1pPr>
            <a:lvl2pPr>
              <a:defRPr sz="3000">
                <a:solidFill>
                  <a:srgbClr val="30372F"/>
                </a:solidFill>
                <a:latin typeface="Georgia"/>
                <a:ea typeface="Georgia"/>
                <a:cs typeface="Georgia"/>
              </a:defRPr>
            </a:lvl2pPr>
            <a:lvl3pPr>
              <a:defRPr sz="3000">
                <a:solidFill>
                  <a:srgbClr val="30372F"/>
                </a:solidFill>
                <a:latin typeface="Georgia"/>
                <a:ea typeface="Georgia"/>
                <a:cs typeface="Georgia"/>
              </a:defRPr>
            </a:lvl3pPr>
            <a:lvl4pPr>
              <a:defRPr sz="3000">
                <a:solidFill>
                  <a:srgbClr val="30372F"/>
                </a:solidFill>
                <a:latin typeface="Georgia"/>
                <a:ea typeface="Georgia"/>
                <a:cs typeface="Georgia"/>
              </a:defRPr>
            </a:lvl4pPr>
            <a:lvl5pPr>
              <a:defRPr sz="3000">
                <a:solidFill>
                  <a:srgbClr val="30372F"/>
                </a:solidFill>
                <a:latin typeface="Georgia"/>
                <a:ea typeface="Georgia"/>
                <a:cs typeface="Georgia"/>
              </a:defRPr>
            </a:lvl5pPr>
            <a:lvl6pPr>
              <a:defRPr sz="3000">
                <a:solidFill>
                  <a:srgbClr val="30372F"/>
                </a:solidFill>
                <a:latin typeface="Georgia"/>
                <a:ea typeface="Georgia"/>
                <a:cs typeface="Georgia"/>
              </a:defRPr>
            </a:lvl6pPr>
            <a:lvl7pPr>
              <a:defRPr sz="3000">
                <a:solidFill>
                  <a:srgbClr val="30372F"/>
                </a:solidFill>
                <a:latin typeface="Georgia"/>
                <a:ea typeface="Georgia"/>
                <a:cs typeface="Georgia"/>
              </a:defRPr>
            </a:lvl7pPr>
            <a:lvl8pPr>
              <a:defRPr sz="3000">
                <a:solidFill>
                  <a:srgbClr val="30372F"/>
                </a:solidFill>
                <a:latin typeface="Georgia"/>
                <a:ea typeface="Georgia"/>
                <a:cs typeface="Georgia"/>
              </a:defRPr>
            </a:lvl8pPr>
            <a:lvl9pPr>
              <a:defRPr sz="3000">
                <a:solidFill>
                  <a:srgbClr val="30372F"/>
                </a:solidFill>
                <a:latin typeface="Georgia"/>
                <a:ea typeface="Georgia"/>
                <a:cs typeface="Georgia"/>
              </a:defRPr>
            </a:lvl9pPr>
          </a:lstStyle>
          <a:p xmlns:a="http://schemas.openxmlformats.org/drawingml/2006/main">
            <a:pPr>
              <a:defRPr sz="3000">
                <a:solidFill>
                  <a:srgbClr val="30372F"/>
                </a:solidFill>
              </a:defRPr>
            </a:pPr>
            <a:r>
              <a:rPr sz="3000">
                <a:solidFill>
                  <a:srgbClr val="30372F"/>
                </a:solidFill>
                <a:latin typeface="Georgia"/>
                <a:ea typeface="Georgia"/>
                <a:cs typeface="Georgia"/>
              </a:rPr>
              <a:t>Meet a volunteer</a:t>
            </a:r>
          </a:p>
        </p:txBody>
      </p:sp>
      <p:sp>
        <p:nvSpPr>
          <p:cNvPr id="8" name="">
            <a:extLst xmlns:a="http://schemas.openxmlformats.org/drawingml/2006/main">
              <a:ext uri="{FF2B5EF4-FFF2-40B4-BE49-F238E27FC236}">
                <a16:creationId xmlns:a16="http://schemas.microsoft.com/office/drawing/2014/main" id="{A3FBA7D0-1E1D-44F8-BD1A-F43D4BF2F402}"/>
              </a:ext>
            </a:extLst>
          </p:cNvPr>
          <p:cNvSpPr>
            <a:spLocks xmlns:a="http://schemas.openxmlformats.org/drawingml/2006/main" noGrp="1"/>
          </p:cNvSpPr>
          <p:nvPr/>
        </p:nvSpPr>
        <p:spPr>
          <a:xfrm xmlns:a="http://schemas.openxmlformats.org/drawingml/2006/main">
            <a:off x="723900" y="4438650"/>
            <a:ext cx="685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a:solidFill>
                  <a:srgbClr val="65715A"/>
                </a:solidFill>
                <a:latin typeface="Arial"/>
                <a:ea typeface="Arial"/>
                <a:cs typeface="Arial"/>
              </a:defRPr>
            </a:defPPr>
            <a:lvl1pPr>
              <a:defRPr sz="2025">
                <a:solidFill>
                  <a:srgbClr val="65715A"/>
                </a:solidFill>
                <a:latin typeface="Arial"/>
                <a:ea typeface="Arial"/>
                <a:cs typeface="Arial"/>
              </a:defRPr>
            </a:lvl1pPr>
            <a:lvl2pPr>
              <a:defRPr sz="2025">
                <a:solidFill>
                  <a:srgbClr val="65715A"/>
                </a:solidFill>
                <a:latin typeface="Arial"/>
                <a:ea typeface="Arial"/>
                <a:cs typeface="Arial"/>
              </a:defRPr>
            </a:lvl2pPr>
            <a:lvl3pPr>
              <a:defRPr sz="2025">
                <a:solidFill>
                  <a:srgbClr val="65715A"/>
                </a:solidFill>
                <a:latin typeface="Arial"/>
                <a:ea typeface="Arial"/>
                <a:cs typeface="Arial"/>
              </a:defRPr>
            </a:lvl3pPr>
            <a:lvl4pPr>
              <a:defRPr sz="2025">
                <a:solidFill>
                  <a:srgbClr val="65715A"/>
                </a:solidFill>
                <a:latin typeface="Arial"/>
                <a:ea typeface="Arial"/>
                <a:cs typeface="Arial"/>
              </a:defRPr>
            </a:lvl4pPr>
            <a:lvl5pPr>
              <a:defRPr sz="2025">
                <a:solidFill>
                  <a:srgbClr val="65715A"/>
                </a:solidFill>
                <a:latin typeface="Arial"/>
                <a:ea typeface="Arial"/>
                <a:cs typeface="Arial"/>
              </a:defRPr>
            </a:lvl5pPr>
            <a:lvl6pPr>
              <a:defRPr sz="2025">
                <a:solidFill>
                  <a:srgbClr val="65715A"/>
                </a:solidFill>
                <a:latin typeface="Arial"/>
                <a:ea typeface="Arial"/>
                <a:cs typeface="Arial"/>
              </a:defRPr>
            </a:lvl6pPr>
            <a:lvl7pPr>
              <a:defRPr sz="2025">
                <a:solidFill>
                  <a:srgbClr val="65715A"/>
                </a:solidFill>
                <a:latin typeface="Arial"/>
                <a:ea typeface="Arial"/>
                <a:cs typeface="Arial"/>
              </a:defRPr>
            </a:lvl7pPr>
            <a:lvl8pPr>
              <a:defRPr sz="2025">
                <a:solidFill>
                  <a:srgbClr val="65715A"/>
                </a:solidFill>
                <a:latin typeface="Arial"/>
                <a:ea typeface="Arial"/>
                <a:cs typeface="Arial"/>
              </a:defRPr>
            </a:lvl8pPr>
            <a:lvl9pPr>
              <a:defRPr sz="2025">
                <a:solidFill>
                  <a:srgbClr val="65715A"/>
                </a:solidFill>
                <a:latin typeface="Arial"/>
                <a:ea typeface="Arial"/>
                <a:cs typeface="Arial"/>
              </a:defRPr>
            </a:lvl9pPr>
          </a:lstStyle>
          <a:p xmlns:a="http://schemas.openxmlformats.org/drawingml/2006/main">
            <a:pPr>
              <a:defRPr sz="2025">
                <a:solidFill>
                  <a:srgbClr val="65715A"/>
                </a:solidFill>
              </a:defRPr>
            </a:pPr>
            <a:r>
              <a:rPr sz="2025">
                <a:solidFill>
                  <a:srgbClr val="65715A"/>
                </a:solidFill>
                <a:latin typeface="Arial"/>
                <a:ea typeface="Arial"/>
                <a:cs typeface="Arial"/>
              </a:rPr>
              <a:t>A real video call with text, quick replies and visible attention cues.</a:t>
            </a:r>
          </a:p>
        </p:txBody>
      </p:sp>
      <p:sp>
        <p:nvSpPr>
          <p:cNvPr id="9" name="">
            <a:extLst xmlns:a="http://schemas.openxmlformats.org/drawingml/2006/main">
              <a:ext uri="{FF2B5EF4-FFF2-40B4-BE49-F238E27FC236}">
                <a16:creationId xmlns:a16="http://schemas.microsoft.com/office/drawing/2014/main" id="{185FF321-7942-4526-9D1D-F29A6B29A96E}"/>
              </a:ext>
            </a:extLst>
          </p:cNvPr>
          <p:cNvSpPr>
            <a:spLocks xmlns:a="http://schemas.openxmlformats.org/drawingml/2006/main" noGrp="1"/>
          </p:cNvSpPr>
          <p:nvPr/>
        </p:nvSpPr>
        <p:spPr>
          <a:xfrm xmlns:a="http://schemas.openxmlformats.org/drawingml/2006/main">
            <a:off x="723900" y="5676900"/>
            <a:ext cx="685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a:solidFill>
                  <a:srgbClr val="65715A"/>
                </a:solidFill>
                <a:latin typeface="Arial"/>
                <a:ea typeface="Arial"/>
                <a:cs typeface="Arial"/>
              </a:defRPr>
            </a:defPPr>
            <a:lvl1pPr>
              <a:defRPr sz="1950">
                <a:solidFill>
                  <a:srgbClr val="65715A"/>
                </a:solidFill>
                <a:latin typeface="Arial"/>
                <a:ea typeface="Arial"/>
                <a:cs typeface="Arial"/>
              </a:defRPr>
            </a:lvl1pPr>
            <a:lvl2pPr>
              <a:defRPr sz="1950">
                <a:solidFill>
                  <a:srgbClr val="65715A"/>
                </a:solidFill>
                <a:latin typeface="Arial"/>
                <a:ea typeface="Arial"/>
                <a:cs typeface="Arial"/>
              </a:defRPr>
            </a:lvl2pPr>
            <a:lvl3pPr>
              <a:defRPr sz="1950">
                <a:solidFill>
                  <a:srgbClr val="65715A"/>
                </a:solidFill>
                <a:latin typeface="Arial"/>
                <a:ea typeface="Arial"/>
                <a:cs typeface="Arial"/>
              </a:defRPr>
            </a:lvl3pPr>
            <a:lvl4pPr>
              <a:defRPr sz="1950">
                <a:solidFill>
                  <a:srgbClr val="65715A"/>
                </a:solidFill>
                <a:latin typeface="Arial"/>
                <a:ea typeface="Arial"/>
                <a:cs typeface="Arial"/>
              </a:defRPr>
            </a:lvl4pPr>
            <a:lvl5pPr>
              <a:defRPr sz="1950">
                <a:solidFill>
                  <a:srgbClr val="65715A"/>
                </a:solidFill>
                <a:latin typeface="Arial"/>
                <a:ea typeface="Arial"/>
                <a:cs typeface="Arial"/>
              </a:defRPr>
            </a:lvl5pPr>
            <a:lvl6pPr>
              <a:defRPr sz="1950">
                <a:solidFill>
                  <a:srgbClr val="65715A"/>
                </a:solidFill>
                <a:latin typeface="Arial"/>
                <a:ea typeface="Arial"/>
                <a:cs typeface="Arial"/>
              </a:defRPr>
            </a:lvl6pPr>
            <a:lvl7pPr>
              <a:defRPr sz="1950">
                <a:solidFill>
                  <a:srgbClr val="65715A"/>
                </a:solidFill>
                <a:latin typeface="Arial"/>
                <a:ea typeface="Arial"/>
                <a:cs typeface="Arial"/>
              </a:defRPr>
            </a:lvl7pPr>
            <a:lvl8pPr>
              <a:defRPr sz="1950">
                <a:solidFill>
                  <a:srgbClr val="65715A"/>
                </a:solidFill>
                <a:latin typeface="Arial"/>
                <a:ea typeface="Arial"/>
                <a:cs typeface="Arial"/>
              </a:defRPr>
            </a:lvl8pPr>
            <a:lvl9pPr>
              <a:defRPr sz="1950">
                <a:solidFill>
                  <a:srgbClr val="65715A"/>
                </a:solidFill>
                <a:latin typeface="Arial"/>
                <a:ea typeface="Arial"/>
                <a:cs typeface="Arial"/>
              </a:defRPr>
            </a:lvl9pPr>
          </a:lstStyle>
          <a:p xmlns:a="http://schemas.openxmlformats.org/drawingml/2006/main">
            <a:pPr>
              <a:defRPr sz="1950">
                <a:solidFill>
                  <a:srgbClr val="65715A"/>
                </a:solidFill>
              </a:defRPr>
            </a:pPr>
            <a:r>
              <a:rPr sz="1950">
                <a:solidFill>
                  <a:srgbClr val="65715A"/>
                </a:solidFill>
                <a:latin typeface="Arial"/>
                <a:ea typeface="Arial"/>
                <a:cs typeface="Arial"/>
              </a:rPr>
              <a:t>Your conversation. Your pace. Leave anytime.</a:t>
            </a:r>
          </a:p>
        </p:txBody>
      </p:sp>
      <p:pic>
        <p:nvPicPr>
          <p:cNvPr id="10" name="">
            <a:extLst xmlns:a="http://schemas.openxmlformats.org/drawingml/2006/main">
              <a:ext uri="{FF2B5EF4-FFF2-40B4-BE49-F238E27FC236}">
                <a16:creationId xmlns:a16="http://schemas.microsoft.com/office/drawing/2014/main" id="{BA9AF019-CF9A-43B9-9C2B-AD92FA43BAAF}"/>
              </a:ext>
            </a:extLst>
          </p:cNvPr>
          <p:cNvPicPr>
            <a:picLocks xmlns:a="http://schemas.openxmlformats.org/drawingml/2006/main" noChangeAspect="1"/>
          </p:cNvPicPr>
          <p:nvPr/>
        </p:nvPicPr>
        <p:blipFill>
          <a:blip xmlns:r="http://schemas.openxmlformats.org/officeDocument/2006/relationships" xmlns:a="http://schemas.openxmlformats.org/drawingml/2006/main" r:embed="R363a0be635044807"/>
          <a:stretch xmlns:a="http://schemas.openxmlformats.org/drawingml/2006/main"/>
        </p:blipFill>
        <p:spPr>
          <a:xfrm xmlns:a="http://schemas.openxmlformats.org/drawingml/2006/main">
            <a:off x="8631285" y="933450"/>
            <a:ext cx="2682779" cy="5695950"/>
          </a:xfrm>
          <a:prstGeom xmlns:a="http://schemas.openxmlformats.org/drawingml/2006/main" prst="rect">
            <a:avLst/>
          </a:prstGeom>
        </p:spPr>
      </p:pic>
    </p:spTree>
    <p:extLst>
      <p:ext uri="{BB962C8B-B14F-4D97-AF65-F5344CB8AC3E}">
        <p14:creationId xmlns:p14="http://schemas.microsoft.com/office/powerpoint/2010/main" val="156340209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F509327-3B51-457F-BD48-F4C9F224990D}"/>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B9658AF6-E67B-4483-BD54-DA3887096AB6}"/>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47D8D67-C1EF-4B38-BA8A-54EB72CF6833}"/>
              </a:ext>
            </a:extLst>
          </p:cNvPr>
          <p:cNvSpPr>
            <a:spLocks xmlns:a="http://schemas.openxmlformats.org/drawingml/2006/main" noGrp="1"/>
          </p:cNvSpPr>
          <p:nvPr/>
        </p:nvSpPr>
        <p:spPr>
          <a:xfrm xmlns:a="http://schemas.openxmlformats.org/drawingml/2006/main">
            <a:off x="685800" y="1047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75">
                <a:solidFill>
                  <a:srgbClr val="30372F"/>
                </a:solidFill>
                <a:latin typeface="Georgia"/>
                <a:ea typeface="Georgia"/>
                <a:cs typeface="Georgia"/>
              </a:defRPr>
            </a:defPPr>
            <a:lvl1pPr>
              <a:defRPr sz="3975">
                <a:solidFill>
                  <a:srgbClr val="30372F"/>
                </a:solidFill>
                <a:latin typeface="Georgia"/>
                <a:ea typeface="Georgia"/>
                <a:cs typeface="Georgia"/>
              </a:defRPr>
            </a:lvl1pPr>
            <a:lvl2pPr>
              <a:defRPr sz="3975">
                <a:solidFill>
                  <a:srgbClr val="30372F"/>
                </a:solidFill>
                <a:latin typeface="Georgia"/>
                <a:ea typeface="Georgia"/>
                <a:cs typeface="Georgia"/>
              </a:defRPr>
            </a:lvl2pPr>
            <a:lvl3pPr>
              <a:defRPr sz="3975">
                <a:solidFill>
                  <a:srgbClr val="30372F"/>
                </a:solidFill>
                <a:latin typeface="Georgia"/>
                <a:ea typeface="Georgia"/>
                <a:cs typeface="Georgia"/>
              </a:defRPr>
            </a:lvl3pPr>
            <a:lvl4pPr>
              <a:defRPr sz="3975">
                <a:solidFill>
                  <a:srgbClr val="30372F"/>
                </a:solidFill>
                <a:latin typeface="Georgia"/>
                <a:ea typeface="Georgia"/>
                <a:cs typeface="Georgia"/>
              </a:defRPr>
            </a:lvl4pPr>
            <a:lvl5pPr>
              <a:defRPr sz="3975">
                <a:solidFill>
                  <a:srgbClr val="30372F"/>
                </a:solidFill>
                <a:latin typeface="Georgia"/>
                <a:ea typeface="Georgia"/>
                <a:cs typeface="Georgia"/>
              </a:defRPr>
            </a:lvl5pPr>
            <a:lvl6pPr>
              <a:defRPr sz="3975">
                <a:solidFill>
                  <a:srgbClr val="30372F"/>
                </a:solidFill>
                <a:latin typeface="Georgia"/>
                <a:ea typeface="Georgia"/>
                <a:cs typeface="Georgia"/>
              </a:defRPr>
            </a:lvl6pPr>
            <a:lvl7pPr>
              <a:defRPr sz="3975">
                <a:solidFill>
                  <a:srgbClr val="30372F"/>
                </a:solidFill>
                <a:latin typeface="Georgia"/>
                <a:ea typeface="Georgia"/>
                <a:cs typeface="Georgia"/>
              </a:defRPr>
            </a:lvl7pPr>
            <a:lvl8pPr>
              <a:defRPr sz="3975">
                <a:solidFill>
                  <a:srgbClr val="30372F"/>
                </a:solidFill>
                <a:latin typeface="Georgia"/>
                <a:ea typeface="Georgia"/>
                <a:cs typeface="Georgia"/>
              </a:defRPr>
            </a:lvl8pPr>
            <a:lvl9pPr>
              <a:defRPr sz="3975">
                <a:solidFill>
                  <a:srgbClr val="30372F"/>
                </a:solidFill>
                <a:latin typeface="Georgia"/>
                <a:ea typeface="Georgia"/>
                <a:cs typeface="Georgia"/>
              </a:defRPr>
            </a:lvl9pPr>
          </a:lstStyle>
          <a:p xmlns:a="http://schemas.openxmlformats.org/drawingml/2006/main">
            <a:pPr>
              <a:defRPr sz="3975">
                <a:solidFill>
                  <a:srgbClr val="30372F"/>
                </a:solidFill>
              </a:defRPr>
            </a:pPr>
            <a:r>
              <a:rPr sz="3975">
                <a:solidFill>
                  <a:srgbClr val="30372F"/>
                </a:solidFill>
                <a:latin typeface="Georgia"/>
                <a:ea typeface="Georgia"/>
                <a:cs typeface="Georgia"/>
              </a:rPr>
              <a:t>A working connection, end to end</a:t>
            </a:r>
          </a:p>
        </p:txBody>
      </p:sp>
      <p:sp>
        <p:nvSpPr>
          <p:cNvPr id="5" name="">
            <a:extLst xmlns:a="http://schemas.openxmlformats.org/drawingml/2006/main">
              <a:ext uri="{FF2B5EF4-FFF2-40B4-BE49-F238E27FC236}">
                <a16:creationId xmlns:a16="http://schemas.microsoft.com/office/drawing/2014/main" id="{B15EA58E-53FF-4A9B-BBFB-A0B5BE73F62E}"/>
              </a:ext>
            </a:extLst>
          </p:cNvPr>
          <p:cNvSpPr>
            <a:spLocks xmlns:a="http://schemas.openxmlformats.org/drawingml/2006/main" noGrp="1"/>
          </p:cNvSpPr>
          <p:nvPr/>
        </p:nvSpPr>
        <p:spPr>
          <a:xfrm xmlns:a="http://schemas.openxmlformats.org/drawingml/2006/main">
            <a:off x="723900" y="22002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a:solidFill>
                  <a:srgbClr val="BC6B47"/>
                </a:solidFill>
                <a:latin typeface="Arial"/>
                <a:ea typeface="Arial"/>
                <a:cs typeface="Arial"/>
              </a:defRPr>
            </a:defPPr>
            <a:lvl1pPr>
              <a:defRPr sz="2100">
                <a:solidFill>
                  <a:srgbClr val="BC6B47"/>
                </a:solidFill>
                <a:latin typeface="Arial"/>
                <a:ea typeface="Arial"/>
                <a:cs typeface="Arial"/>
              </a:defRPr>
            </a:lvl1pPr>
            <a:lvl2pPr>
              <a:defRPr sz="2100">
                <a:solidFill>
                  <a:srgbClr val="BC6B47"/>
                </a:solidFill>
                <a:latin typeface="Arial"/>
                <a:ea typeface="Arial"/>
                <a:cs typeface="Arial"/>
              </a:defRPr>
            </a:lvl2pPr>
            <a:lvl3pPr>
              <a:defRPr sz="2100">
                <a:solidFill>
                  <a:srgbClr val="BC6B47"/>
                </a:solidFill>
                <a:latin typeface="Arial"/>
                <a:ea typeface="Arial"/>
                <a:cs typeface="Arial"/>
              </a:defRPr>
            </a:lvl3pPr>
            <a:lvl4pPr>
              <a:defRPr sz="2100">
                <a:solidFill>
                  <a:srgbClr val="BC6B47"/>
                </a:solidFill>
                <a:latin typeface="Arial"/>
                <a:ea typeface="Arial"/>
                <a:cs typeface="Arial"/>
              </a:defRPr>
            </a:lvl4pPr>
            <a:lvl5pPr>
              <a:defRPr sz="2100">
                <a:solidFill>
                  <a:srgbClr val="BC6B47"/>
                </a:solidFill>
                <a:latin typeface="Arial"/>
                <a:ea typeface="Arial"/>
                <a:cs typeface="Arial"/>
              </a:defRPr>
            </a:lvl5pPr>
            <a:lvl6pPr>
              <a:defRPr sz="2100">
                <a:solidFill>
                  <a:srgbClr val="BC6B47"/>
                </a:solidFill>
                <a:latin typeface="Arial"/>
                <a:ea typeface="Arial"/>
                <a:cs typeface="Arial"/>
              </a:defRPr>
            </a:lvl6pPr>
            <a:lvl7pPr>
              <a:defRPr sz="2100">
                <a:solidFill>
                  <a:srgbClr val="BC6B47"/>
                </a:solidFill>
                <a:latin typeface="Arial"/>
                <a:ea typeface="Arial"/>
                <a:cs typeface="Arial"/>
              </a:defRPr>
            </a:lvl7pPr>
            <a:lvl8pPr>
              <a:defRPr sz="2100">
                <a:solidFill>
                  <a:srgbClr val="BC6B47"/>
                </a:solidFill>
                <a:latin typeface="Arial"/>
                <a:ea typeface="Arial"/>
                <a:cs typeface="Arial"/>
              </a:defRPr>
            </a:lvl8pPr>
            <a:lvl9pPr>
              <a:defRPr sz="2100">
                <a:solidFill>
                  <a:srgbClr val="BC6B47"/>
                </a:solidFill>
                <a:latin typeface="Arial"/>
                <a:ea typeface="Arial"/>
                <a:cs typeface="Arial"/>
              </a:defRPr>
            </a:lvl9pPr>
          </a:lstStyle>
          <a:p xmlns:a="http://schemas.openxmlformats.org/drawingml/2006/main">
            <a:pPr>
              <a:defRPr sz="2100">
                <a:solidFill>
                  <a:srgbClr val="BC6B47"/>
                </a:solidFill>
              </a:defRPr>
            </a:pPr>
            <a:r>
              <a:rPr sz="2100">
                <a:solidFill>
                  <a:srgbClr val="BC6B47"/>
                </a:solidFill>
                <a:latin typeface="Arial"/>
                <a:ea typeface="Arial"/>
                <a:cs typeface="Arial"/>
              </a:rPr>
              <a:t>WebRTC</a:t>
            </a:r>
          </a:p>
        </p:txBody>
      </p:sp>
      <p:sp>
        <p:nvSpPr>
          <p:cNvPr id="6" name="">
            <a:extLst xmlns:a="http://schemas.openxmlformats.org/drawingml/2006/main">
              <a:ext uri="{FF2B5EF4-FFF2-40B4-BE49-F238E27FC236}">
                <a16:creationId xmlns:a16="http://schemas.microsoft.com/office/drawing/2014/main" id="{557E1FC3-003E-4345-B44C-F62A40DFC91D}"/>
              </a:ext>
            </a:extLst>
          </p:cNvPr>
          <p:cNvSpPr>
            <a:spLocks xmlns:a="http://schemas.openxmlformats.org/drawingml/2006/main" noGrp="1"/>
          </p:cNvSpPr>
          <p:nvPr/>
        </p:nvSpPr>
        <p:spPr>
          <a:xfrm xmlns:a="http://schemas.openxmlformats.org/drawingml/2006/main">
            <a:off x="4857750" y="2190750"/>
            <a:ext cx="6629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a:solidFill>
                  <a:srgbClr val="65715A"/>
                </a:solidFill>
                <a:latin typeface="Arial"/>
                <a:ea typeface="Arial"/>
                <a:cs typeface="Arial"/>
              </a:defRPr>
            </a:defPPr>
            <a:lvl1pPr>
              <a:defRPr sz="1800">
                <a:solidFill>
                  <a:srgbClr val="65715A"/>
                </a:solidFill>
                <a:latin typeface="Arial"/>
                <a:ea typeface="Arial"/>
                <a:cs typeface="Arial"/>
              </a:defRPr>
            </a:lvl1pPr>
            <a:lvl2pPr>
              <a:defRPr sz="1800">
                <a:solidFill>
                  <a:srgbClr val="65715A"/>
                </a:solidFill>
                <a:latin typeface="Arial"/>
                <a:ea typeface="Arial"/>
                <a:cs typeface="Arial"/>
              </a:defRPr>
            </a:lvl2pPr>
            <a:lvl3pPr>
              <a:defRPr sz="1800">
                <a:solidFill>
                  <a:srgbClr val="65715A"/>
                </a:solidFill>
                <a:latin typeface="Arial"/>
                <a:ea typeface="Arial"/>
                <a:cs typeface="Arial"/>
              </a:defRPr>
            </a:lvl3pPr>
            <a:lvl4pPr>
              <a:defRPr sz="1800">
                <a:solidFill>
                  <a:srgbClr val="65715A"/>
                </a:solidFill>
                <a:latin typeface="Arial"/>
                <a:ea typeface="Arial"/>
                <a:cs typeface="Arial"/>
              </a:defRPr>
            </a:lvl4pPr>
            <a:lvl5pPr>
              <a:defRPr sz="1800">
                <a:solidFill>
                  <a:srgbClr val="65715A"/>
                </a:solidFill>
                <a:latin typeface="Arial"/>
                <a:ea typeface="Arial"/>
                <a:cs typeface="Arial"/>
              </a:defRPr>
            </a:lvl5pPr>
            <a:lvl6pPr>
              <a:defRPr sz="1800">
                <a:solidFill>
                  <a:srgbClr val="65715A"/>
                </a:solidFill>
                <a:latin typeface="Arial"/>
                <a:ea typeface="Arial"/>
                <a:cs typeface="Arial"/>
              </a:defRPr>
            </a:lvl6pPr>
            <a:lvl7pPr>
              <a:defRPr sz="1800">
                <a:solidFill>
                  <a:srgbClr val="65715A"/>
                </a:solidFill>
                <a:latin typeface="Arial"/>
                <a:ea typeface="Arial"/>
                <a:cs typeface="Arial"/>
              </a:defRPr>
            </a:lvl7pPr>
            <a:lvl8pPr>
              <a:defRPr sz="1800">
                <a:solidFill>
                  <a:srgbClr val="65715A"/>
                </a:solidFill>
                <a:latin typeface="Arial"/>
                <a:ea typeface="Arial"/>
                <a:cs typeface="Arial"/>
              </a:defRPr>
            </a:lvl8pPr>
            <a:lvl9pPr>
              <a:defRPr sz="1800">
                <a:solidFill>
                  <a:srgbClr val="65715A"/>
                </a:solidFill>
                <a:latin typeface="Arial"/>
                <a:ea typeface="Arial"/>
                <a:cs typeface="Arial"/>
              </a:defRPr>
            </a:lvl9pPr>
          </a:lstStyle>
          <a:p xmlns:a="http://schemas.openxmlformats.org/drawingml/2006/main">
            <a:pPr>
              <a:defRPr sz="1800">
                <a:solidFill>
                  <a:srgbClr val="65715A"/>
                </a:solidFill>
              </a:defRPr>
            </a:pPr>
            <a:r>
              <a:rPr sz="1800">
                <a:solidFill>
                  <a:srgbClr val="65715A"/>
                </a:solidFill>
                <a:latin typeface="Arial"/>
                <a:ea typeface="Arial"/>
                <a:cs typeface="Arial"/>
              </a:rPr>
              <a:t>Browser video and audio travel directly between peers when the network allows.</a:t>
            </a:r>
          </a:p>
        </p:txBody>
      </p:sp>
      <p:sp>
        <p:nvSpPr>
          <p:cNvPr id="7" name="">
            <a:extLst xmlns:a="http://schemas.openxmlformats.org/drawingml/2006/main">
              <a:ext uri="{FF2B5EF4-FFF2-40B4-BE49-F238E27FC236}">
                <a16:creationId xmlns:a16="http://schemas.microsoft.com/office/drawing/2014/main" id="{93C14960-E156-4CD8-8C37-71431D5EECA4}"/>
              </a:ext>
            </a:extLst>
          </p:cNvPr>
          <p:cNvSpPr>
            <a:spLocks xmlns:a="http://schemas.openxmlformats.org/drawingml/2006/main" noGrp="1"/>
          </p:cNvSpPr>
          <p:nvPr/>
        </p:nvSpPr>
        <p:spPr>
          <a:xfrm xmlns:a="http://schemas.openxmlformats.org/drawingml/2006/main">
            <a:off x="723900" y="31527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a:solidFill>
                  <a:srgbClr val="BC6B47"/>
                </a:solidFill>
                <a:latin typeface="Arial"/>
                <a:ea typeface="Arial"/>
                <a:cs typeface="Arial"/>
              </a:defRPr>
            </a:defPPr>
            <a:lvl1pPr>
              <a:defRPr sz="2100">
                <a:solidFill>
                  <a:srgbClr val="BC6B47"/>
                </a:solidFill>
                <a:latin typeface="Arial"/>
                <a:ea typeface="Arial"/>
                <a:cs typeface="Arial"/>
              </a:defRPr>
            </a:lvl1pPr>
            <a:lvl2pPr>
              <a:defRPr sz="2100">
                <a:solidFill>
                  <a:srgbClr val="BC6B47"/>
                </a:solidFill>
                <a:latin typeface="Arial"/>
                <a:ea typeface="Arial"/>
                <a:cs typeface="Arial"/>
              </a:defRPr>
            </a:lvl2pPr>
            <a:lvl3pPr>
              <a:defRPr sz="2100">
                <a:solidFill>
                  <a:srgbClr val="BC6B47"/>
                </a:solidFill>
                <a:latin typeface="Arial"/>
                <a:ea typeface="Arial"/>
                <a:cs typeface="Arial"/>
              </a:defRPr>
            </a:lvl3pPr>
            <a:lvl4pPr>
              <a:defRPr sz="2100">
                <a:solidFill>
                  <a:srgbClr val="BC6B47"/>
                </a:solidFill>
                <a:latin typeface="Arial"/>
                <a:ea typeface="Arial"/>
                <a:cs typeface="Arial"/>
              </a:defRPr>
            </a:lvl4pPr>
            <a:lvl5pPr>
              <a:defRPr sz="2100">
                <a:solidFill>
                  <a:srgbClr val="BC6B47"/>
                </a:solidFill>
                <a:latin typeface="Arial"/>
                <a:ea typeface="Arial"/>
                <a:cs typeface="Arial"/>
              </a:defRPr>
            </a:lvl5pPr>
            <a:lvl6pPr>
              <a:defRPr sz="2100">
                <a:solidFill>
                  <a:srgbClr val="BC6B47"/>
                </a:solidFill>
                <a:latin typeface="Arial"/>
                <a:ea typeface="Arial"/>
                <a:cs typeface="Arial"/>
              </a:defRPr>
            </a:lvl6pPr>
            <a:lvl7pPr>
              <a:defRPr sz="2100">
                <a:solidFill>
                  <a:srgbClr val="BC6B47"/>
                </a:solidFill>
                <a:latin typeface="Arial"/>
                <a:ea typeface="Arial"/>
                <a:cs typeface="Arial"/>
              </a:defRPr>
            </a:lvl7pPr>
            <a:lvl8pPr>
              <a:defRPr sz="2100">
                <a:solidFill>
                  <a:srgbClr val="BC6B47"/>
                </a:solidFill>
                <a:latin typeface="Arial"/>
                <a:ea typeface="Arial"/>
                <a:cs typeface="Arial"/>
              </a:defRPr>
            </a:lvl8pPr>
            <a:lvl9pPr>
              <a:defRPr sz="2100">
                <a:solidFill>
                  <a:srgbClr val="BC6B47"/>
                </a:solidFill>
                <a:latin typeface="Arial"/>
                <a:ea typeface="Arial"/>
                <a:cs typeface="Arial"/>
              </a:defRPr>
            </a:lvl9pPr>
          </a:lstStyle>
          <a:p xmlns:a="http://schemas.openxmlformats.org/drawingml/2006/main">
            <a:pPr>
              <a:defRPr sz="2100">
                <a:solidFill>
                  <a:srgbClr val="BC6B47"/>
                </a:solidFill>
              </a:defRPr>
            </a:pPr>
            <a:r>
              <a:rPr sz="2100">
                <a:solidFill>
                  <a:srgbClr val="BC6B47"/>
                </a:solidFill>
                <a:latin typeface="Arial"/>
                <a:ea typeface="Arial"/>
                <a:cs typeface="Arial"/>
              </a:rPr>
              <a:t>Supabase Edge Functions</a:t>
            </a:r>
          </a:p>
        </p:txBody>
      </p:sp>
      <p:sp>
        <p:nvSpPr>
          <p:cNvPr id="8" name="">
            <a:extLst xmlns:a="http://schemas.openxmlformats.org/drawingml/2006/main">
              <a:ext uri="{FF2B5EF4-FFF2-40B4-BE49-F238E27FC236}">
                <a16:creationId xmlns:a16="http://schemas.microsoft.com/office/drawing/2014/main" id="{104E20A6-723E-46F8-B859-2E6605A9079A}"/>
              </a:ext>
            </a:extLst>
          </p:cNvPr>
          <p:cNvSpPr>
            <a:spLocks xmlns:a="http://schemas.openxmlformats.org/drawingml/2006/main" noGrp="1"/>
          </p:cNvSpPr>
          <p:nvPr/>
        </p:nvSpPr>
        <p:spPr>
          <a:xfrm xmlns:a="http://schemas.openxmlformats.org/drawingml/2006/main">
            <a:off x="4857750" y="3143250"/>
            <a:ext cx="6629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a:solidFill>
                  <a:srgbClr val="65715A"/>
                </a:solidFill>
                <a:latin typeface="Arial"/>
                <a:ea typeface="Arial"/>
                <a:cs typeface="Arial"/>
              </a:defRPr>
            </a:defPPr>
            <a:lvl1pPr>
              <a:defRPr sz="1800">
                <a:solidFill>
                  <a:srgbClr val="65715A"/>
                </a:solidFill>
                <a:latin typeface="Arial"/>
                <a:ea typeface="Arial"/>
                <a:cs typeface="Arial"/>
              </a:defRPr>
            </a:lvl1pPr>
            <a:lvl2pPr>
              <a:defRPr sz="1800">
                <a:solidFill>
                  <a:srgbClr val="65715A"/>
                </a:solidFill>
                <a:latin typeface="Arial"/>
                <a:ea typeface="Arial"/>
                <a:cs typeface="Arial"/>
              </a:defRPr>
            </a:lvl2pPr>
            <a:lvl3pPr>
              <a:defRPr sz="1800">
                <a:solidFill>
                  <a:srgbClr val="65715A"/>
                </a:solidFill>
                <a:latin typeface="Arial"/>
                <a:ea typeface="Arial"/>
                <a:cs typeface="Arial"/>
              </a:defRPr>
            </a:lvl3pPr>
            <a:lvl4pPr>
              <a:defRPr sz="1800">
                <a:solidFill>
                  <a:srgbClr val="65715A"/>
                </a:solidFill>
                <a:latin typeface="Arial"/>
                <a:ea typeface="Arial"/>
                <a:cs typeface="Arial"/>
              </a:defRPr>
            </a:lvl4pPr>
            <a:lvl5pPr>
              <a:defRPr sz="1800">
                <a:solidFill>
                  <a:srgbClr val="65715A"/>
                </a:solidFill>
                <a:latin typeface="Arial"/>
                <a:ea typeface="Arial"/>
                <a:cs typeface="Arial"/>
              </a:defRPr>
            </a:lvl5pPr>
            <a:lvl6pPr>
              <a:defRPr sz="1800">
                <a:solidFill>
                  <a:srgbClr val="65715A"/>
                </a:solidFill>
                <a:latin typeface="Arial"/>
                <a:ea typeface="Arial"/>
                <a:cs typeface="Arial"/>
              </a:defRPr>
            </a:lvl6pPr>
            <a:lvl7pPr>
              <a:defRPr sz="1800">
                <a:solidFill>
                  <a:srgbClr val="65715A"/>
                </a:solidFill>
                <a:latin typeface="Arial"/>
                <a:ea typeface="Arial"/>
                <a:cs typeface="Arial"/>
              </a:defRPr>
            </a:lvl7pPr>
            <a:lvl8pPr>
              <a:defRPr sz="1800">
                <a:solidFill>
                  <a:srgbClr val="65715A"/>
                </a:solidFill>
                <a:latin typeface="Arial"/>
                <a:ea typeface="Arial"/>
                <a:cs typeface="Arial"/>
              </a:defRPr>
            </a:lvl8pPr>
            <a:lvl9pPr>
              <a:defRPr sz="1800">
                <a:solidFill>
                  <a:srgbClr val="65715A"/>
                </a:solidFill>
                <a:latin typeface="Arial"/>
                <a:ea typeface="Arial"/>
                <a:cs typeface="Arial"/>
              </a:defRPr>
            </a:lvl9pPr>
          </a:lstStyle>
          <a:p xmlns:a="http://schemas.openxmlformats.org/drawingml/2006/main">
            <a:pPr>
              <a:defRPr sz="1800">
                <a:solidFill>
                  <a:srgbClr val="65715A"/>
                </a:solidFill>
              </a:defRPr>
            </a:pPr>
            <a:r>
              <a:rPr sz="1800">
                <a:solidFill>
                  <a:srgbClr val="65715A"/>
                </a:solidFill>
                <a:latin typeface="Arial"/>
                <a:ea typeface="Arial"/>
                <a:cs typeface="Arial"/>
              </a:rPr>
              <a:t>Opaque session credentials protect call actions and participant access.</a:t>
            </a:r>
          </a:p>
        </p:txBody>
      </p:sp>
      <p:sp>
        <p:nvSpPr>
          <p:cNvPr id="9" name="">
            <a:extLst xmlns:a="http://schemas.openxmlformats.org/drawingml/2006/main">
              <a:ext uri="{FF2B5EF4-FFF2-40B4-BE49-F238E27FC236}">
                <a16:creationId xmlns:a16="http://schemas.microsoft.com/office/drawing/2014/main" id="{8D3FD40A-75DB-41E5-AD89-0E6947FDB399}"/>
              </a:ext>
            </a:extLst>
          </p:cNvPr>
          <p:cNvSpPr>
            <a:spLocks xmlns:a="http://schemas.openxmlformats.org/drawingml/2006/main" noGrp="1"/>
          </p:cNvSpPr>
          <p:nvPr/>
        </p:nvSpPr>
        <p:spPr>
          <a:xfrm xmlns:a="http://schemas.openxmlformats.org/drawingml/2006/main">
            <a:off x="723900" y="41052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a:solidFill>
                  <a:srgbClr val="BC6B47"/>
                </a:solidFill>
                <a:latin typeface="Arial"/>
                <a:ea typeface="Arial"/>
                <a:cs typeface="Arial"/>
              </a:defRPr>
            </a:defPPr>
            <a:lvl1pPr>
              <a:defRPr sz="2100">
                <a:solidFill>
                  <a:srgbClr val="BC6B47"/>
                </a:solidFill>
                <a:latin typeface="Arial"/>
                <a:ea typeface="Arial"/>
                <a:cs typeface="Arial"/>
              </a:defRPr>
            </a:lvl1pPr>
            <a:lvl2pPr>
              <a:defRPr sz="2100">
                <a:solidFill>
                  <a:srgbClr val="BC6B47"/>
                </a:solidFill>
                <a:latin typeface="Arial"/>
                <a:ea typeface="Arial"/>
                <a:cs typeface="Arial"/>
              </a:defRPr>
            </a:lvl2pPr>
            <a:lvl3pPr>
              <a:defRPr sz="2100">
                <a:solidFill>
                  <a:srgbClr val="BC6B47"/>
                </a:solidFill>
                <a:latin typeface="Arial"/>
                <a:ea typeface="Arial"/>
                <a:cs typeface="Arial"/>
              </a:defRPr>
            </a:lvl3pPr>
            <a:lvl4pPr>
              <a:defRPr sz="2100">
                <a:solidFill>
                  <a:srgbClr val="BC6B47"/>
                </a:solidFill>
                <a:latin typeface="Arial"/>
                <a:ea typeface="Arial"/>
                <a:cs typeface="Arial"/>
              </a:defRPr>
            </a:lvl4pPr>
            <a:lvl5pPr>
              <a:defRPr sz="2100">
                <a:solidFill>
                  <a:srgbClr val="BC6B47"/>
                </a:solidFill>
                <a:latin typeface="Arial"/>
                <a:ea typeface="Arial"/>
                <a:cs typeface="Arial"/>
              </a:defRPr>
            </a:lvl5pPr>
            <a:lvl6pPr>
              <a:defRPr sz="2100">
                <a:solidFill>
                  <a:srgbClr val="BC6B47"/>
                </a:solidFill>
                <a:latin typeface="Arial"/>
                <a:ea typeface="Arial"/>
                <a:cs typeface="Arial"/>
              </a:defRPr>
            </a:lvl6pPr>
            <a:lvl7pPr>
              <a:defRPr sz="2100">
                <a:solidFill>
                  <a:srgbClr val="BC6B47"/>
                </a:solidFill>
                <a:latin typeface="Arial"/>
                <a:ea typeface="Arial"/>
                <a:cs typeface="Arial"/>
              </a:defRPr>
            </a:lvl7pPr>
            <a:lvl8pPr>
              <a:defRPr sz="2100">
                <a:solidFill>
                  <a:srgbClr val="BC6B47"/>
                </a:solidFill>
                <a:latin typeface="Arial"/>
                <a:ea typeface="Arial"/>
                <a:cs typeface="Arial"/>
              </a:defRPr>
            </a:lvl8pPr>
            <a:lvl9pPr>
              <a:defRPr sz="2100">
                <a:solidFill>
                  <a:srgbClr val="BC6B47"/>
                </a:solidFill>
                <a:latin typeface="Arial"/>
                <a:ea typeface="Arial"/>
                <a:cs typeface="Arial"/>
              </a:defRPr>
            </a:lvl9pPr>
          </a:lstStyle>
          <a:p xmlns:a="http://schemas.openxmlformats.org/drawingml/2006/main">
            <a:pPr>
              <a:defRPr sz="2100">
                <a:solidFill>
                  <a:srgbClr val="BC6B47"/>
                </a:solidFill>
              </a:defRPr>
            </a:pPr>
            <a:r>
              <a:rPr sz="2100">
                <a:solidFill>
                  <a:srgbClr val="BC6B47"/>
                </a:solidFill>
                <a:latin typeface="Arial"/>
                <a:ea typeface="Arial"/>
                <a:cs typeface="Arial"/>
              </a:rPr>
              <a:t>Postgres transactions</a:t>
            </a:r>
          </a:p>
        </p:txBody>
      </p:sp>
      <p:sp>
        <p:nvSpPr>
          <p:cNvPr id="10" name="">
            <a:extLst xmlns:a="http://schemas.openxmlformats.org/drawingml/2006/main">
              <a:ext uri="{FF2B5EF4-FFF2-40B4-BE49-F238E27FC236}">
                <a16:creationId xmlns:a16="http://schemas.microsoft.com/office/drawing/2014/main" id="{7D4423FA-2510-4FF2-A801-E7F6B43FA267}"/>
              </a:ext>
            </a:extLst>
          </p:cNvPr>
          <p:cNvSpPr>
            <a:spLocks xmlns:a="http://schemas.openxmlformats.org/drawingml/2006/main" noGrp="1"/>
          </p:cNvSpPr>
          <p:nvPr/>
        </p:nvSpPr>
        <p:spPr>
          <a:xfrm xmlns:a="http://schemas.openxmlformats.org/drawingml/2006/main">
            <a:off x="4857750" y="4095750"/>
            <a:ext cx="6629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a:solidFill>
                  <a:srgbClr val="65715A"/>
                </a:solidFill>
                <a:latin typeface="Arial"/>
                <a:ea typeface="Arial"/>
                <a:cs typeface="Arial"/>
              </a:defRPr>
            </a:defPPr>
            <a:lvl1pPr>
              <a:defRPr sz="1800">
                <a:solidFill>
                  <a:srgbClr val="65715A"/>
                </a:solidFill>
                <a:latin typeface="Arial"/>
                <a:ea typeface="Arial"/>
                <a:cs typeface="Arial"/>
              </a:defRPr>
            </a:lvl1pPr>
            <a:lvl2pPr>
              <a:defRPr sz="1800">
                <a:solidFill>
                  <a:srgbClr val="65715A"/>
                </a:solidFill>
                <a:latin typeface="Arial"/>
                <a:ea typeface="Arial"/>
                <a:cs typeface="Arial"/>
              </a:defRPr>
            </a:lvl2pPr>
            <a:lvl3pPr>
              <a:defRPr sz="1800">
                <a:solidFill>
                  <a:srgbClr val="65715A"/>
                </a:solidFill>
                <a:latin typeface="Arial"/>
                <a:ea typeface="Arial"/>
                <a:cs typeface="Arial"/>
              </a:defRPr>
            </a:lvl3pPr>
            <a:lvl4pPr>
              <a:defRPr sz="1800">
                <a:solidFill>
                  <a:srgbClr val="65715A"/>
                </a:solidFill>
                <a:latin typeface="Arial"/>
                <a:ea typeface="Arial"/>
                <a:cs typeface="Arial"/>
              </a:defRPr>
            </a:lvl4pPr>
            <a:lvl5pPr>
              <a:defRPr sz="1800">
                <a:solidFill>
                  <a:srgbClr val="65715A"/>
                </a:solidFill>
                <a:latin typeface="Arial"/>
                <a:ea typeface="Arial"/>
                <a:cs typeface="Arial"/>
              </a:defRPr>
            </a:lvl5pPr>
            <a:lvl6pPr>
              <a:defRPr sz="1800">
                <a:solidFill>
                  <a:srgbClr val="65715A"/>
                </a:solidFill>
                <a:latin typeface="Arial"/>
                <a:ea typeface="Arial"/>
                <a:cs typeface="Arial"/>
              </a:defRPr>
            </a:lvl6pPr>
            <a:lvl7pPr>
              <a:defRPr sz="1800">
                <a:solidFill>
                  <a:srgbClr val="65715A"/>
                </a:solidFill>
                <a:latin typeface="Arial"/>
                <a:ea typeface="Arial"/>
                <a:cs typeface="Arial"/>
              </a:defRPr>
            </a:lvl7pPr>
            <a:lvl8pPr>
              <a:defRPr sz="1800">
                <a:solidFill>
                  <a:srgbClr val="65715A"/>
                </a:solidFill>
                <a:latin typeface="Arial"/>
                <a:ea typeface="Arial"/>
                <a:cs typeface="Arial"/>
              </a:defRPr>
            </a:lvl8pPr>
            <a:lvl9pPr>
              <a:defRPr sz="1800">
                <a:solidFill>
                  <a:srgbClr val="65715A"/>
                </a:solidFill>
                <a:latin typeface="Arial"/>
                <a:ea typeface="Arial"/>
                <a:cs typeface="Arial"/>
              </a:defRPr>
            </a:lvl9pPr>
          </a:lstStyle>
          <a:p xmlns:a="http://schemas.openxmlformats.org/drawingml/2006/main">
            <a:pPr>
              <a:defRPr sz="1800">
                <a:solidFill>
                  <a:srgbClr val="65715A"/>
                </a:solidFill>
              </a:defRPr>
            </a:pPr>
            <a:r>
              <a:rPr sz="1800">
                <a:solidFill>
                  <a:srgbClr val="65715A"/>
                </a:solidFill>
                <a:latin typeface="Arial"/>
                <a:ea typeface="Arial"/>
                <a:cs typeface="Arial"/>
              </a:rPr>
              <a:t>Atomic matching prevents double claims. Room locks coordinate messages and call cleanup.</a:t>
            </a:r>
          </a:p>
        </p:txBody>
      </p:sp>
      <p:sp>
        <p:nvSpPr>
          <p:cNvPr id="11" name="">
            <a:extLst xmlns:a="http://schemas.openxmlformats.org/drawingml/2006/main">
              <a:ext uri="{FF2B5EF4-FFF2-40B4-BE49-F238E27FC236}">
                <a16:creationId xmlns:a16="http://schemas.microsoft.com/office/drawing/2014/main" id="{E1758126-7D01-4EC0-A811-55873D88511D}"/>
              </a:ext>
            </a:extLst>
          </p:cNvPr>
          <p:cNvSpPr>
            <a:spLocks xmlns:a="http://schemas.openxmlformats.org/drawingml/2006/main" noGrp="1"/>
          </p:cNvSpPr>
          <p:nvPr/>
        </p:nvSpPr>
        <p:spPr>
          <a:xfrm xmlns:a="http://schemas.openxmlformats.org/drawingml/2006/main">
            <a:off x="723900" y="50577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a:solidFill>
                  <a:srgbClr val="BC6B47"/>
                </a:solidFill>
                <a:latin typeface="Arial"/>
                <a:ea typeface="Arial"/>
                <a:cs typeface="Arial"/>
              </a:defRPr>
            </a:defPPr>
            <a:lvl1pPr>
              <a:defRPr sz="2100">
                <a:solidFill>
                  <a:srgbClr val="BC6B47"/>
                </a:solidFill>
                <a:latin typeface="Arial"/>
                <a:ea typeface="Arial"/>
                <a:cs typeface="Arial"/>
              </a:defRPr>
            </a:lvl1pPr>
            <a:lvl2pPr>
              <a:defRPr sz="2100">
                <a:solidFill>
                  <a:srgbClr val="BC6B47"/>
                </a:solidFill>
                <a:latin typeface="Arial"/>
                <a:ea typeface="Arial"/>
                <a:cs typeface="Arial"/>
              </a:defRPr>
            </a:lvl2pPr>
            <a:lvl3pPr>
              <a:defRPr sz="2100">
                <a:solidFill>
                  <a:srgbClr val="BC6B47"/>
                </a:solidFill>
                <a:latin typeface="Arial"/>
                <a:ea typeface="Arial"/>
                <a:cs typeface="Arial"/>
              </a:defRPr>
            </a:lvl3pPr>
            <a:lvl4pPr>
              <a:defRPr sz="2100">
                <a:solidFill>
                  <a:srgbClr val="BC6B47"/>
                </a:solidFill>
                <a:latin typeface="Arial"/>
                <a:ea typeface="Arial"/>
                <a:cs typeface="Arial"/>
              </a:defRPr>
            </a:lvl4pPr>
            <a:lvl5pPr>
              <a:defRPr sz="2100">
                <a:solidFill>
                  <a:srgbClr val="BC6B47"/>
                </a:solidFill>
                <a:latin typeface="Arial"/>
                <a:ea typeface="Arial"/>
                <a:cs typeface="Arial"/>
              </a:defRPr>
            </a:lvl5pPr>
            <a:lvl6pPr>
              <a:defRPr sz="2100">
                <a:solidFill>
                  <a:srgbClr val="BC6B47"/>
                </a:solidFill>
                <a:latin typeface="Arial"/>
                <a:ea typeface="Arial"/>
                <a:cs typeface="Arial"/>
              </a:defRPr>
            </a:lvl6pPr>
            <a:lvl7pPr>
              <a:defRPr sz="2100">
                <a:solidFill>
                  <a:srgbClr val="BC6B47"/>
                </a:solidFill>
                <a:latin typeface="Arial"/>
                <a:ea typeface="Arial"/>
                <a:cs typeface="Arial"/>
              </a:defRPr>
            </a:lvl7pPr>
            <a:lvl8pPr>
              <a:defRPr sz="2100">
                <a:solidFill>
                  <a:srgbClr val="BC6B47"/>
                </a:solidFill>
                <a:latin typeface="Arial"/>
                <a:ea typeface="Arial"/>
                <a:cs typeface="Arial"/>
              </a:defRPr>
            </a:lvl8pPr>
            <a:lvl9pPr>
              <a:defRPr sz="2100">
                <a:solidFill>
                  <a:srgbClr val="BC6B47"/>
                </a:solidFill>
                <a:latin typeface="Arial"/>
                <a:ea typeface="Arial"/>
                <a:cs typeface="Arial"/>
              </a:defRPr>
            </a:lvl9pPr>
          </a:lstStyle>
          <a:p xmlns:a="http://schemas.openxmlformats.org/drawingml/2006/main">
            <a:pPr>
              <a:defRPr sz="2100">
                <a:solidFill>
                  <a:srgbClr val="BC6B47"/>
                </a:solidFill>
              </a:defRPr>
            </a:pPr>
            <a:r>
              <a:rPr sz="2100">
                <a:solidFill>
                  <a:srgbClr val="BC6B47"/>
                </a:solidFill>
                <a:latin typeface="Arial"/>
                <a:ea typeface="Arial"/>
                <a:cs typeface="Arial"/>
              </a:rPr>
              <a:t>React on Vercel</a:t>
            </a:r>
          </a:p>
        </p:txBody>
      </p:sp>
      <p:sp>
        <p:nvSpPr>
          <p:cNvPr id="12" name="">
            <a:extLst xmlns:a="http://schemas.openxmlformats.org/drawingml/2006/main">
              <a:ext uri="{FF2B5EF4-FFF2-40B4-BE49-F238E27FC236}">
                <a16:creationId xmlns:a16="http://schemas.microsoft.com/office/drawing/2014/main" id="{884A8723-BE28-4E2C-8ACC-2016035A9402}"/>
              </a:ext>
            </a:extLst>
          </p:cNvPr>
          <p:cNvSpPr>
            <a:spLocks xmlns:a="http://schemas.openxmlformats.org/drawingml/2006/main" noGrp="1"/>
          </p:cNvSpPr>
          <p:nvPr/>
        </p:nvSpPr>
        <p:spPr>
          <a:xfrm xmlns:a="http://schemas.openxmlformats.org/drawingml/2006/main">
            <a:off x="4857750" y="5048250"/>
            <a:ext cx="6629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a:solidFill>
                  <a:srgbClr val="65715A"/>
                </a:solidFill>
                <a:latin typeface="Arial"/>
                <a:ea typeface="Arial"/>
                <a:cs typeface="Arial"/>
              </a:defRPr>
            </a:defPPr>
            <a:lvl1pPr>
              <a:defRPr sz="1800">
                <a:solidFill>
                  <a:srgbClr val="65715A"/>
                </a:solidFill>
                <a:latin typeface="Arial"/>
                <a:ea typeface="Arial"/>
                <a:cs typeface="Arial"/>
              </a:defRPr>
            </a:lvl1pPr>
            <a:lvl2pPr>
              <a:defRPr sz="1800">
                <a:solidFill>
                  <a:srgbClr val="65715A"/>
                </a:solidFill>
                <a:latin typeface="Arial"/>
                <a:ea typeface="Arial"/>
                <a:cs typeface="Arial"/>
              </a:defRPr>
            </a:lvl2pPr>
            <a:lvl3pPr>
              <a:defRPr sz="1800">
                <a:solidFill>
                  <a:srgbClr val="65715A"/>
                </a:solidFill>
                <a:latin typeface="Arial"/>
                <a:ea typeface="Arial"/>
                <a:cs typeface="Arial"/>
              </a:defRPr>
            </a:lvl3pPr>
            <a:lvl4pPr>
              <a:defRPr sz="1800">
                <a:solidFill>
                  <a:srgbClr val="65715A"/>
                </a:solidFill>
                <a:latin typeface="Arial"/>
                <a:ea typeface="Arial"/>
                <a:cs typeface="Arial"/>
              </a:defRPr>
            </a:lvl4pPr>
            <a:lvl5pPr>
              <a:defRPr sz="1800">
                <a:solidFill>
                  <a:srgbClr val="65715A"/>
                </a:solidFill>
                <a:latin typeface="Arial"/>
                <a:ea typeface="Arial"/>
                <a:cs typeface="Arial"/>
              </a:defRPr>
            </a:lvl5pPr>
            <a:lvl6pPr>
              <a:defRPr sz="1800">
                <a:solidFill>
                  <a:srgbClr val="65715A"/>
                </a:solidFill>
                <a:latin typeface="Arial"/>
                <a:ea typeface="Arial"/>
                <a:cs typeface="Arial"/>
              </a:defRPr>
            </a:lvl6pPr>
            <a:lvl7pPr>
              <a:defRPr sz="1800">
                <a:solidFill>
                  <a:srgbClr val="65715A"/>
                </a:solidFill>
                <a:latin typeface="Arial"/>
                <a:ea typeface="Arial"/>
                <a:cs typeface="Arial"/>
              </a:defRPr>
            </a:lvl7pPr>
            <a:lvl8pPr>
              <a:defRPr sz="1800">
                <a:solidFill>
                  <a:srgbClr val="65715A"/>
                </a:solidFill>
                <a:latin typeface="Arial"/>
                <a:ea typeface="Arial"/>
                <a:cs typeface="Arial"/>
              </a:defRPr>
            </a:lvl8pPr>
            <a:lvl9pPr>
              <a:defRPr sz="1800">
                <a:solidFill>
                  <a:srgbClr val="65715A"/>
                </a:solidFill>
                <a:latin typeface="Arial"/>
                <a:ea typeface="Arial"/>
                <a:cs typeface="Arial"/>
              </a:defRPr>
            </a:lvl9pPr>
          </a:lstStyle>
          <a:p xmlns:a="http://schemas.openxmlformats.org/drawingml/2006/main">
            <a:pPr>
              <a:defRPr sz="1800">
                <a:solidFill>
                  <a:srgbClr val="65715A"/>
                </a:solidFill>
              </a:defRPr>
            </a:pPr>
            <a:r>
              <a:rPr sz="1800">
                <a:solidFill>
                  <a:srgbClr val="65715A"/>
                </a:solidFill>
                <a:latin typeface="Arial"/>
                <a:ea typeface="Arial"/>
                <a:cs typeface="Arial"/>
              </a:rPr>
              <a:t>Responsive interface, local preferences and a shareable HTTPS app.</a:t>
            </a:r>
          </a:p>
        </p:txBody>
      </p:sp>
    </p:spTree>
    <p:extLst>
      <p:ext uri="{BB962C8B-B14F-4D97-AF65-F5344CB8AC3E}">
        <p14:creationId xmlns:p14="http://schemas.microsoft.com/office/powerpoint/2010/main" val="113152139"/>
      </p:ext>
    </p:extLst>
  </p:cSld>
</p:sld>
</file>

<file path=ppt/slides/slide5.xml><?xml version="1.0" encoding="utf-8"?>
<p:sld xmlns:p="http://schemas.openxmlformats.org/presentationml/2006/main">
  <p:cSld>
    <p:bg>
      <p:bgPr>
        <a:solidFill xmlns:a="http://schemas.openxmlformats.org/drawingml/2006/main">
          <a:srgbClr val="E8EDD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C56E76A-396B-4F36-919E-4EC664B03223}"/>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C83A0392-7B9E-4D44-9070-22A77F6D3364}"/>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B0D9771-D53C-4C4A-80AB-1D436A152ECA}"/>
              </a:ext>
            </a:extLst>
          </p:cNvPr>
          <p:cNvSpPr>
            <a:spLocks xmlns:a="http://schemas.openxmlformats.org/drawingml/2006/main" noGrp="1"/>
          </p:cNvSpPr>
          <p:nvPr/>
        </p:nvSpPr>
        <p:spPr>
          <a:xfrm xmlns:a="http://schemas.openxmlformats.org/drawingml/2006/main">
            <a:off x="685800" y="1047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75">
                <a:solidFill>
                  <a:srgbClr val="30372F"/>
                </a:solidFill>
                <a:latin typeface="Georgia"/>
                <a:ea typeface="Georgia"/>
                <a:cs typeface="Georgia"/>
              </a:defRPr>
            </a:defPPr>
            <a:lvl1pPr>
              <a:defRPr sz="3975">
                <a:solidFill>
                  <a:srgbClr val="30372F"/>
                </a:solidFill>
                <a:latin typeface="Georgia"/>
                <a:ea typeface="Georgia"/>
                <a:cs typeface="Georgia"/>
              </a:defRPr>
            </a:lvl1pPr>
            <a:lvl2pPr>
              <a:defRPr sz="3975">
                <a:solidFill>
                  <a:srgbClr val="30372F"/>
                </a:solidFill>
                <a:latin typeface="Georgia"/>
                <a:ea typeface="Georgia"/>
                <a:cs typeface="Georgia"/>
              </a:defRPr>
            </a:lvl2pPr>
            <a:lvl3pPr>
              <a:defRPr sz="3975">
                <a:solidFill>
                  <a:srgbClr val="30372F"/>
                </a:solidFill>
                <a:latin typeface="Georgia"/>
                <a:ea typeface="Georgia"/>
                <a:cs typeface="Georgia"/>
              </a:defRPr>
            </a:lvl3pPr>
            <a:lvl4pPr>
              <a:defRPr sz="3975">
                <a:solidFill>
                  <a:srgbClr val="30372F"/>
                </a:solidFill>
                <a:latin typeface="Georgia"/>
                <a:ea typeface="Georgia"/>
                <a:cs typeface="Georgia"/>
              </a:defRPr>
            </a:lvl4pPr>
            <a:lvl5pPr>
              <a:defRPr sz="3975">
                <a:solidFill>
                  <a:srgbClr val="30372F"/>
                </a:solidFill>
                <a:latin typeface="Georgia"/>
                <a:ea typeface="Georgia"/>
                <a:cs typeface="Georgia"/>
              </a:defRPr>
            </a:lvl5pPr>
            <a:lvl6pPr>
              <a:defRPr sz="3975">
                <a:solidFill>
                  <a:srgbClr val="30372F"/>
                </a:solidFill>
                <a:latin typeface="Georgia"/>
                <a:ea typeface="Georgia"/>
                <a:cs typeface="Georgia"/>
              </a:defRPr>
            </a:lvl6pPr>
            <a:lvl7pPr>
              <a:defRPr sz="3975">
                <a:solidFill>
                  <a:srgbClr val="30372F"/>
                </a:solidFill>
                <a:latin typeface="Georgia"/>
                <a:ea typeface="Georgia"/>
                <a:cs typeface="Georgia"/>
              </a:defRPr>
            </a:lvl7pPr>
            <a:lvl8pPr>
              <a:defRPr sz="3975">
                <a:solidFill>
                  <a:srgbClr val="30372F"/>
                </a:solidFill>
                <a:latin typeface="Georgia"/>
                <a:ea typeface="Georgia"/>
                <a:cs typeface="Georgia"/>
              </a:defRPr>
            </a:lvl8pPr>
            <a:lvl9pPr>
              <a:defRPr sz="3975">
                <a:solidFill>
                  <a:srgbClr val="30372F"/>
                </a:solidFill>
                <a:latin typeface="Georgia"/>
                <a:ea typeface="Georgia"/>
                <a:cs typeface="Georgia"/>
              </a:defRPr>
            </a:lvl9pPr>
          </a:lstStyle>
          <a:p xmlns:a="http://schemas.openxmlformats.org/drawingml/2006/main">
            <a:pPr>
              <a:defRPr sz="3975">
                <a:solidFill>
                  <a:srgbClr val="30372F"/>
                </a:solidFill>
              </a:defRPr>
            </a:pPr>
            <a:r>
              <a:rPr sz="3975">
                <a:solidFill>
                  <a:srgbClr val="30372F"/>
                </a:solidFill>
                <a:latin typeface="Georgia"/>
                <a:ea typeface="Georgia"/>
                <a:cs typeface="Georgia"/>
              </a:rPr>
              <a:t>A campus is a place to begin</a:t>
            </a:r>
          </a:p>
        </p:txBody>
      </p:sp>
      <p:sp>
        <p:nvSpPr>
          <p:cNvPr id="5" name="">
            <a:extLst xmlns:a="http://schemas.openxmlformats.org/drawingml/2006/main">
              <a:ext uri="{FF2B5EF4-FFF2-40B4-BE49-F238E27FC236}">
                <a16:creationId xmlns:a16="http://schemas.microsoft.com/office/drawing/2014/main" id="{9066ACC0-DBA8-469D-A43D-82BABD40D634}"/>
              </a:ext>
            </a:extLst>
          </p:cNvPr>
          <p:cNvSpPr>
            <a:spLocks xmlns:a="http://schemas.openxmlformats.org/drawingml/2006/main" noGrp="1"/>
          </p:cNvSpPr>
          <p:nvPr/>
        </p:nvSpPr>
        <p:spPr>
          <a:xfrm xmlns:a="http://schemas.openxmlformats.org/drawingml/2006/main">
            <a:off x="723900" y="21717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a:solidFill>
                  <a:srgbClr val="30372F"/>
                </a:solidFill>
                <a:latin typeface="Georgia"/>
                <a:ea typeface="Georgia"/>
                <a:cs typeface="Georgia"/>
              </a:defRPr>
            </a:defPPr>
            <a:lvl1pPr>
              <a:defRPr sz="3000">
                <a:solidFill>
                  <a:srgbClr val="30372F"/>
                </a:solidFill>
                <a:latin typeface="Georgia"/>
                <a:ea typeface="Georgia"/>
                <a:cs typeface="Georgia"/>
              </a:defRPr>
            </a:lvl1pPr>
            <a:lvl2pPr>
              <a:defRPr sz="3000">
                <a:solidFill>
                  <a:srgbClr val="30372F"/>
                </a:solidFill>
                <a:latin typeface="Georgia"/>
                <a:ea typeface="Georgia"/>
                <a:cs typeface="Georgia"/>
              </a:defRPr>
            </a:lvl2pPr>
            <a:lvl3pPr>
              <a:defRPr sz="3000">
                <a:solidFill>
                  <a:srgbClr val="30372F"/>
                </a:solidFill>
                <a:latin typeface="Georgia"/>
                <a:ea typeface="Georgia"/>
                <a:cs typeface="Georgia"/>
              </a:defRPr>
            </a:lvl3pPr>
            <a:lvl4pPr>
              <a:defRPr sz="3000">
                <a:solidFill>
                  <a:srgbClr val="30372F"/>
                </a:solidFill>
                <a:latin typeface="Georgia"/>
                <a:ea typeface="Georgia"/>
                <a:cs typeface="Georgia"/>
              </a:defRPr>
            </a:lvl4pPr>
            <a:lvl5pPr>
              <a:defRPr sz="3000">
                <a:solidFill>
                  <a:srgbClr val="30372F"/>
                </a:solidFill>
                <a:latin typeface="Georgia"/>
                <a:ea typeface="Georgia"/>
                <a:cs typeface="Georgia"/>
              </a:defRPr>
            </a:lvl5pPr>
            <a:lvl6pPr>
              <a:defRPr sz="3000">
                <a:solidFill>
                  <a:srgbClr val="30372F"/>
                </a:solidFill>
                <a:latin typeface="Georgia"/>
                <a:ea typeface="Georgia"/>
                <a:cs typeface="Georgia"/>
              </a:defRPr>
            </a:lvl6pPr>
            <a:lvl7pPr>
              <a:defRPr sz="3000">
                <a:solidFill>
                  <a:srgbClr val="30372F"/>
                </a:solidFill>
                <a:latin typeface="Georgia"/>
                <a:ea typeface="Georgia"/>
                <a:cs typeface="Georgia"/>
              </a:defRPr>
            </a:lvl7pPr>
            <a:lvl8pPr>
              <a:defRPr sz="3000">
                <a:solidFill>
                  <a:srgbClr val="30372F"/>
                </a:solidFill>
                <a:latin typeface="Georgia"/>
                <a:ea typeface="Georgia"/>
                <a:cs typeface="Georgia"/>
              </a:defRPr>
            </a:lvl8pPr>
            <a:lvl9pPr>
              <a:defRPr sz="3000">
                <a:solidFill>
                  <a:srgbClr val="30372F"/>
                </a:solidFill>
                <a:latin typeface="Georgia"/>
                <a:ea typeface="Georgia"/>
                <a:cs typeface="Georgia"/>
              </a:defRPr>
            </a:lvl9pPr>
          </a:lstStyle>
          <a:p xmlns:a="http://schemas.openxmlformats.org/drawingml/2006/main">
            <a:pPr>
              <a:defRPr sz="3000">
                <a:solidFill>
                  <a:srgbClr val="30372F"/>
                </a:solidFill>
              </a:defRPr>
            </a:pPr>
            <a:r>
              <a:rPr sz="3000">
                <a:solidFill>
                  <a:srgbClr val="30372F"/>
                </a:solidFill>
                <a:latin typeface="Georgia"/>
                <a:ea typeface="Georgia"/>
                <a:cs typeface="Georgia"/>
              </a:rPr>
              <a:t>People asking for context</a:t>
            </a:r>
          </a:p>
        </p:txBody>
      </p:sp>
      <p:sp>
        <p:nvSpPr>
          <p:cNvPr id="6" name="">
            <a:extLst xmlns:a="http://schemas.openxmlformats.org/drawingml/2006/main">
              <a:ext uri="{FF2B5EF4-FFF2-40B4-BE49-F238E27FC236}">
                <a16:creationId xmlns:a16="http://schemas.microsoft.com/office/drawing/2014/main" id="{5F0AC583-D228-4CC7-8F52-FB701932CF41}"/>
              </a:ext>
            </a:extLst>
          </p:cNvPr>
          <p:cNvSpPr>
            <a:spLocks xmlns:a="http://schemas.openxmlformats.org/drawingml/2006/main" noGrp="1"/>
          </p:cNvSpPr>
          <p:nvPr/>
        </p:nvSpPr>
        <p:spPr>
          <a:xfrm xmlns:a="http://schemas.openxmlformats.org/drawingml/2006/main">
            <a:off x="723900" y="2838450"/>
            <a:ext cx="1019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a:solidFill>
                  <a:srgbClr val="65715A"/>
                </a:solidFill>
                <a:latin typeface="Arial"/>
                <a:ea typeface="Arial"/>
                <a:cs typeface="Arial"/>
              </a:defRPr>
            </a:defPPr>
            <a:lvl1pPr>
              <a:defRPr sz="2025">
                <a:solidFill>
                  <a:srgbClr val="65715A"/>
                </a:solidFill>
                <a:latin typeface="Arial"/>
                <a:ea typeface="Arial"/>
                <a:cs typeface="Arial"/>
              </a:defRPr>
            </a:lvl1pPr>
            <a:lvl2pPr>
              <a:defRPr sz="2025">
                <a:solidFill>
                  <a:srgbClr val="65715A"/>
                </a:solidFill>
                <a:latin typeface="Arial"/>
                <a:ea typeface="Arial"/>
                <a:cs typeface="Arial"/>
              </a:defRPr>
            </a:lvl2pPr>
            <a:lvl3pPr>
              <a:defRPr sz="2025">
                <a:solidFill>
                  <a:srgbClr val="65715A"/>
                </a:solidFill>
                <a:latin typeface="Arial"/>
                <a:ea typeface="Arial"/>
                <a:cs typeface="Arial"/>
              </a:defRPr>
            </a:lvl3pPr>
            <a:lvl4pPr>
              <a:defRPr sz="2025">
                <a:solidFill>
                  <a:srgbClr val="65715A"/>
                </a:solidFill>
                <a:latin typeface="Arial"/>
                <a:ea typeface="Arial"/>
                <a:cs typeface="Arial"/>
              </a:defRPr>
            </a:lvl4pPr>
            <a:lvl5pPr>
              <a:defRPr sz="2025">
                <a:solidFill>
                  <a:srgbClr val="65715A"/>
                </a:solidFill>
                <a:latin typeface="Arial"/>
                <a:ea typeface="Arial"/>
                <a:cs typeface="Arial"/>
              </a:defRPr>
            </a:lvl5pPr>
            <a:lvl6pPr>
              <a:defRPr sz="2025">
                <a:solidFill>
                  <a:srgbClr val="65715A"/>
                </a:solidFill>
                <a:latin typeface="Arial"/>
                <a:ea typeface="Arial"/>
                <a:cs typeface="Arial"/>
              </a:defRPr>
            </a:lvl6pPr>
            <a:lvl7pPr>
              <a:defRPr sz="2025">
                <a:solidFill>
                  <a:srgbClr val="65715A"/>
                </a:solidFill>
                <a:latin typeface="Arial"/>
                <a:ea typeface="Arial"/>
                <a:cs typeface="Arial"/>
              </a:defRPr>
            </a:lvl7pPr>
            <a:lvl8pPr>
              <a:defRPr sz="2025">
                <a:solidFill>
                  <a:srgbClr val="65715A"/>
                </a:solidFill>
                <a:latin typeface="Arial"/>
                <a:ea typeface="Arial"/>
                <a:cs typeface="Arial"/>
              </a:defRPr>
            </a:lvl8pPr>
            <a:lvl9pPr>
              <a:defRPr sz="2025">
                <a:solidFill>
                  <a:srgbClr val="65715A"/>
                </a:solidFill>
                <a:latin typeface="Arial"/>
                <a:ea typeface="Arial"/>
                <a:cs typeface="Arial"/>
              </a:defRPr>
            </a:lvl9pPr>
          </a:lstStyle>
          <a:p xmlns:a="http://schemas.openxmlformats.org/drawingml/2006/main">
            <a:pPr>
              <a:defRPr sz="2025">
                <a:solidFill>
                  <a:srgbClr val="65715A"/>
                </a:solidFill>
              </a:defRPr>
            </a:pPr>
            <a:r>
              <a:rPr sz="2025">
                <a:solidFill>
                  <a:srgbClr val="65715A"/>
                </a:solidFill>
                <a:latin typeface="Arial"/>
                <a:ea typeface="Arial"/>
                <a:cs typeface="Arial"/>
              </a:rPr>
              <a:t>Deaf and hard-of-hearing students who want occasional sound help.</a:t>
            </a:r>
          </a:p>
        </p:txBody>
      </p:sp>
      <p:sp>
        <p:nvSpPr>
          <p:cNvPr id="7" name="">
            <a:extLst xmlns:a="http://schemas.openxmlformats.org/drawingml/2006/main">
              <a:ext uri="{FF2B5EF4-FFF2-40B4-BE49-F238E27FC236}">
                <a16:creationId xmlns:a16="http://schemas.microsoft.com/office/drawing/2014/main" id="{0AE3F616-1788-4577-9386-5923D5C2E862}"/>
              </a:ext>
            </a:extLst>
          </p:cNvPr>
          <p:cNvSpPr>
            <a:spLocks xmlns:a="http://schemas.openxmlformats.org/drawingml/2006/main" noGrp="1"/>
          </p:cNvSpPr>
          <p:nvPr/>
        </p:nvSpPr>
        <p:spPr>
          <a:xfrm xmlns:a="http://schemas.openxmlformats.org/drawingml/2006/main">
            <a:off x="723900" y="37814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a:solidFill>
                  <a:srgbClr val="30372F"/>
                </a:solidFill>
                <a:latin typeface="Georgia"/>
                <a:ea typeface="Georgia"/>
                <a:cs typeface="Georgia"/>
              </a:defRPr>
            </a:defPPr>
            <a:lvl1pPr>
              <a:defRPr sz="3000">
                <a:solidFill>
                  <a:srgbClr val="30372F"/>
                </a:solidFill>
                <a:latin typeface="Georgia"/>
                <a:ea typeface="Georgia"/>
                <a:cs typeface="Georgia"/>
              </a:defRPr>
            </a:lvl1pPr>
            <a:lvl2pPr>
              <a:defRPr sz="3000">
                <a:solidFill>
                  <a:srgbClr val="30372F"/>
                </a:solidFill>
                <a:latin typeface="Georgia"/>
                <a:ea typeface="Georgia"/>
                <a:cs typeface="Georgia"/>
              </a:defRPr>
            </a:lvl2pPr>
            <a:lvl3pPr>
              <a:defRPr sz="3000">
                <a:solidFill>
                  <a:srgbClr val="30372F"/>
                </a:solidFill>
                <a:latin typeface="Georgia"/>
                <a:ea typeface="Georgia"/>
                <a:cs typeface="Georgia"/>
              </a:defRPr>
            </a:lvl3pPr>
            <a:lvl4pPr>
              <a:defRPr sz="3000">
                <a:solidFill>
                  <a:srgbClr val="30372F"/>
                </a:solidFill>
                <a:latin typeface="Georgia"/>
                <a:ea typeface="Georgia"/>
                <a:cs typeface="Georgia"/>
              </a:defRPr>
            </a:lvl4pPr>
            <a:lvl5pPr>
              <a:defRPr sz="3000">
                <a:solidFill>
                  <a:srgbClr val="30372F"/>
                </a:solidFill>
                <a:latin typeface="Georgia"/>
                <a:ea typeface="Georgia"/>
                <a:cs typeface="Georgia"/>
              </a:defRPr>
            </a:lvl5pPr>
            <a:lvl6pPr>
              <a:defRPr sz="3000">
                <a:solidFill>
                  <a:srgbClr val="30372F"/>
                </a:solidFill>
                <a:latin typeface="Georgia"/>
                <a:ea typeface="Georgia"/>
                <a:cs typeface="Georgia"/>
              </a:defRPr>
            </a:lvl6pPr>
            <a:lvl7pPr>
              <a:defRPr sz="3000">
                <a:solidFill>
                  <a:srgbClr val="30372F"/>
                </a:solidFill>
                <a:latin typeface="Georgia"/>
                <a:ea typeface="Georgia"/>
                <a:cs typeface="Georgia"/>
              </a:defRPr>
            </a:lvl7pPr>
            <a:lvl8pPr>
              <a:defRPr sz="3000">
                <a:solidFill>
                  <a:srgbClr val="30372F"/>
                </a:solidFill>
                <a:latin typeface="Georgia"/>
                <a:ea typeface="Georgia"/>
                <a:cs typeface="Georgia"/>
              </a:defRPr>
            </a:lvl8pPr>
            <a:lvl9pPr>
              <a:defRPr sz="3000">
                <a:solidFill>
                  <a:srgbClr val="30372F"/>
                </a:solidFill>
                <a:latin typeface="Georgia"/>
                <a:ea typeface="Georgia"/>
                <a:cs typeface="Georgia"/>
              </a:defRPr>
            </a:lvl9pPr>
          </a:lstStyle>
          <a:p xmlns:a="http://schemas.openxmlformats.org/drawingml/2006/main">
            <a:pPr>
              <a:defRPr sz="3000">
                <a:solidFill>
                  <a:srgbClr val="30372F"/>
                </a:solidFill>
              </a:defRPr>
            </a:pPr>
            <a:r>
              <a:rPr sz="3000">
                <a:solidFill>
                  <a:srgbClr val="30372F"/>
                </a:solidFill>
                <a:latin typeface="Georgia"/>
                <a:ea typeface="Georgia"/>
                <a:cs typeface="Georgia"/>
              </a:rPr>
              <a:t>People willing to give a few minutes</a:t>
            </a:r>
          </a:p>
        </p:txBody>
      </p:sp>
      <p:sp>
        <p:nvSpPr>
          <p:cNvPr id="8" name="">
            <a:extLst xmlns:a="http://schemas.openxmlformats.org/drawingml/2006/main">
              <a:ext uri="{FF2B5EF4-FFF2-40B4-BE49-F238E27FC236}">
                <a16:creationId xmlns:a16="http://schemas.microsoft.com/office/drawing/2014/main" id="{EDC5C13A-A204-446A-A920-2E8B629A43A7}"/>
              </a:ext>
            </a:extLst>
          </p:cNvPr>
          <p:cNvSpPr>
            <a:spLocks xmlns:a="http://schemas.openxmlformats.org/drawingml/2006/main" noGrp="1"/>
          </p:cNvSpPr>
          <p:nvPr/>
        </p:nvSpPr>
        <p:spPr>
          <a:xfrm xmlns:a="http://schemas.openxmlformats.org/drawingml/2006/main">
            <a:off x="723900" y="44481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a:solidFill>
                  <a:srgbClr val="65715A"/>
                </a:solidFill>
                <a:latin typeface="Arial"/>
                <a:ea typeface="Arial"/>
                <a:cs typeface="Arial"/>
              </a:defRPr>
            </a:defPPr>
            <a:lvl1pPr>
              <a:defRPr sz="2025">
                <a:solidFill>
                  <a:srgbClr val="65715A"/>
                </a:solidFill>
                <a:latin typeface="Arial"/>
                <a:ea typeface="Arial"/>
                <a:cs typeface="Arial"/>
              </a:defRPr>
            </a:lvl1pPr>
            <a:lvl2pPr>
              <a:defRPr sz="2025">
                <a:solidFill>
                  <a:srgbClr val="65715A"/>
                </a:solidFill>
                <a:latin typeface="Arial"/>
                <a:ea typeface="Arial"/>
                <a:cs typeface="Arial"/>
              </a:defRPr>
            </a:lvl2pPr>
            <a:lvl3pPr>
              <a:defRPr sz="2025">
                <a:solidFill>
                  <a:srgbClr val="65715A"/>
                </a:solidFill>
                <a:latin typeface="Arial"/>
                <a:ea typeface="Arial"/>
                <a:cs typeface="Arial"/>
              </a:defRPr>
            </a:lvl3pPr>
            <a:lvl4pPr>
              <a:defRPr sz="2025">
                <a:solidFill>
                  <a:srgbClr val="65715A"/>
                </a:solidFill>
                <a:latin typeface="Arial"/>
                <a:ea typeface="Arial"/>
                <a:cs typeface="Arial"/>
              </a:defRPr>
            </a:lvl4pPr>
            <a:lvl5pPr>
              <a:defRPr sz="2025">
                <a:solidFill>
                  <a:srgbClr val="65715A"/>
                </a:solidFill>
                <a:latin typeface="Arial"/>
                <a:ea typeface="Arial"/>
                <a:cs typeface="Arial"/>
              </a:defRPr>
            </a:lvl5pPr>
            <a:lvl6pPr>
              <a:defRPr sz="2025">
                <a:solidFill>
                  <a:srgbClr val="65715A"/>
                </a:solidFill>
                <a:latin typeface="Arial"/>
                <a:ea typeface="Arial"/>
                <a:cs typeface="Arial"/>
              </a:defRPr>
            </a:lvl6pPr>
            <a:lvl7pPr>
              <a:defRPr sz="2025">
                <a:solidFill>
                  <a:srgbClr val="65715A"/>
                </a:solidFill>
                <a:latin typeface="Arial"/>
                <a:ea typeface="Arial"/>
                <a:cs typeface="Arial"/>
              </a:defRPr>
            </a:lvl7pPr>
            <a:lvl8pPr>
              <a:defRPr sz="2025">
                <a:solidFill>
                  <a:srgbClr val="65715A"/>
                </a:solidFill>
                <a:latin typeface="Arial"/>
                <a:ea typeface="Arial"/>
                <a:cs typeface="Arial"/>
              </a:defRPr>
            </a:lvl8pPr>
            <a:lvl9pPr>
              <a:defRPr sz="2025">
                <a:solidFill>
                  <a:srgbClr val="65715A"/>
                </a:solidFill>
                <a:latin typeface="Arial"/>
                <a:ea typeface="Arial"/>
                <a:cs typeface="Arial"/>
              </a:defRPr>
            </a:lvl9pPr>
          </a:lstStyle>
          <a:p xmlns:a="http://schemas.openxmlformats.org/drawingml/2006/main">
            <a:pPr>
              <a:defRPr sz="2025">
                <a:solidFill>
                  <a:srgbClr val="65715A"/>
                </a:solidFill>
              </a:defRPr>
            </a:pPr>
            <a:r>
              <a:rPr sz="2025">
                <a:solidFill>
                  <a:srgbClr val="65715A"/>
                </a:solidFill>
                <a:latin typeface="Arial"/>
                <a:ea typeface="Arial"/>
                <a:cs typeface="Arial"/>
              </a:rPr>
              <a:t>Student volunteers, accessibility offices and community organizations.</a:t>
            </a:r>
          </a:p>
        </p:txBody>
      </p:sp>
      <p:sp>
        <p:nvSpPr>
          <p:cNvPr id="9" name="">
            <a:extLst xmlns:a="http://schemas.openxmlformats.org/drawingml/2006/main">
              <a:ext uri="{FF2B5EF4-FFF2-40B4-BE49-F238E27FC236}">
                <a16:creationId xmlns:a16="http://schemas.microsoft.com/office/drawing/2014/main" id="{C0D727F8-6B74-4C11-8FD2-852DDAFC0EA8}"/>
              </a:ext>
            </a:extLst>
          </p:cNvPr>
          <p:cNvSpPr>
            <a:spLocks xmlns:a="http://schemas.openxmlformats.org/drawingml/2006/main" noGrp="1"/>
          </p:cNvSpPr>
          <p:nvPr/>
        </p:nvSpPr>
        <p:spPr>
          <a:xfrm xmlns:a="http://schemas.openxmlformats.org/drawingml/2006/main">
            <a:off x="723900" y="5619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a:solidFill>
                  <a:srgbClr val="BC6B47"/>
                </a:solidFill>
                <a:latin typeface="Arial"/>
                <a:ea typeface="Arial"/>
                <a:cs typeface="Arial"/>
              </a:defRPr>
            </a:defPPr>
            <a:lvl1pPr>
              <a:defRPr sz="1875">
                <a:solidFill>
                  <a:srgbClr val="BC6B47"/>
                </a:solidFill>
                <a:latin typeface="Arial"/>
                <a:ea typeface="Arial"/>
                <a:cs typeface="Arial"/>
              </a:defRPr>
            </a:lvl1pPr>
            <a:lvl2pPr>
              <a:defRPr sz="1875">
                <a:solidFill>
                  <a:srgbClr val="BC6B47"/>
                </a:solidFill>
                <a:latin typeface="Arial"/>
                <a:ea typeface="Arial"/>
                <a:cs typeface="Arial"/>
              </a:defRPr>
            </a:lvl2pPr>
            <a:lvl3pPr>
              <a:defRPr sz="1875">
                <a:solidFill>
                  <a:srgbClr val="BC6B47"/>
                </a:solidFill>
                <a:latin typeface="Arial"/>
                <a:ea typeface="Arial"/>
                <a:cs typeface="Arial"/>
              </a:defRPr>
            </a:lvl3pPr>
            <a:lvl4pPr>
              <a:defRPr sz="1875">
                <a:solidFill>
                  <a:srgbClr val="BC6B47"/>
                </a:solidFill>
                <a:latin typeface="Arial"/>
                <a:ea typeface="Arial"/>
                <a:cs typeface="Arial"/>
              </a:defRPr>
            </a:lvl4pPr>
            <a:lvl5pPr>
              <a:defRPr sz="1875">
                <a:solidFill>
                  <a:srgbClr val="BC6B47"/>
                </a:solidFill>
                <a:latin typeface="Arial"/>
                <a:ea typeface="Arial"/>
                <a:cs typeface="Arial"/>
              </a:defRPr>
            </a:lvl5pPr>
            <a:lvl6pPr>
              <a:defRPr sz="1875">
                <a:solidFill>
                  <a:srgbClr val="BC6B47"/>
                </a:solidFill>
                <a:latin typeface="Arial"/>
                <a:ea typeface="Arial"/>
                <a:cs typeface="Arial"/>
              </a:defRPr>
            </a:lvl6pPr>
            <a:lvl7pPr>
              <a:defRPr sz="1875">
                <a:solidFill>
                  <a:srgbClr val="BC6B47"/>
                </a:solidFill>
                <a:latin typeface="Arial"/>
                <a:ea typeface="Arial"/>
                <a:cs typeface="Arial"/>
              </a:defRPr>
            </a:lvl7pPr>
            <a:lvl8pPr>
              <a:defRPr sz="1875">
                <a:solidFill>
                  <a:srgbClr val="BC6B47"/>
                </a:solidFill>
                <a:latin typeface="Arial"/>
                <a:ea typeface="Arial"/>
                <a:cs typeface="Arial"/>
              </a:defRPr>
            </a:lvl8pPr>
            <a:lvl9pPr>
              <a:defRPr sz="1875">
                <a:solidFill>
                  <a:srgbClr val="BC6B47"/>
                </a:solidFill>
                <a:latin typeface="Arial"/>
                <a:ea typeface="Arial"/>
                <a:cs typeface="Arial"/>
              </a:defRPr>
            </a:lvl9pPr>
          </a:lstStyle>
          <a:p xmlns:a="http://schemas.openxmlformats.org/drawingml/2006/main">
            <a:pPr>
              <a:defRPr sz="1875">
                <a:solidFill>
                  <a:srgbClr val="BC6B47"/>
                </a:solidFill>
              </a:defRPr>
            </a:pPr>
            <a:r>
              <a:rPr sz="1875">
                <a:solidFill>
                  <a:srgbClr val="BC6B47"/>
                </a:solidFill>
                <a:latin typeface="Arial"/>
                <a:ea typeface="Arial"/>
                <a:cs typeface="Arial"/>
              </a:rPr>
              <a:t>Pilot proposal: free to users, supported by campus partners.</a:t>
            </a:r>
          </a:p>
        </p:txBody>
      </p:sp>
    </p:spTree>
    <p:extLst>
      <p:ext uri="{BB962C8B-B14F-4D97-AF65-F5344CB8AC3E}">
        <p14:creationId xmlns:p14="http://schemas.microsoft.com/office/powerpoint/2010/main" val="1018507213"/>
      </p:ext>
    </p:extLst>
  </p:cSld>
</p:sld>
</file>

<file path=ppt/slides/slide6.xml><?xml version="1.0" encoding="utf-8"?>
<p:sld xmlns:p="http://schemas.openxmlformats.org/presentationml/2006/main">
  <p:cSld>
    <p:bg>
      <p:bgPr>
        <a:solidFill xmlns:a="http://schemas.openxmlformats.org/drawingml/2006/main">
          <a:srgbClr val="F3E6D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9093097-AF44-4FDB-B08E-34E355F869BD}"/>
              </a:ext>
            </a:extLst>
          </p:cNvPr>
          <p:cNvSpPr>
            <a:spLocks xmlns:a="http://schemas.openxmlformats.org/drawingml/2006/main" noGrp="1"/>
          </p:cNvSpPr>
          <p:nvPr/>
        </p:nvSpPr>
        <p:spPr>
          <a:xfrm xmlns:a="http://schemas.openxmlformats.org/drawingml/2006/main">
            <a:off x="685800" y="4000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a:solidFill>
                  <a:srgbClr val="65715A"/>
                </a:solidFill>
                <a:latin typeface="Arial"/>
                <a:ea typeface="Arial"/>
                <a:cs typeface="Arial"/>
              </a:defRPr>
            </a:defPPr>
            <a:lvl1pPr>
              <a:defRPr sz="1650">
                <a:solidFill>
                  <a:srgbClr val="65715A"/>
                </a:solidFill>
                <a:latin typeface="Arial"/>
                <a:ea typeface="Arial"/>
                <a:cs typeface="Arial"/>
              </a:defRPr>
            </a:lvl1pPr>
            <a:lvl2pPr>
              <a:defRPr sz="1650">
                <a:solidFill>
                  <a:srgbClr val="65715A"/>
                </a:solidFill>
                <a:latin typeface="Arial"/>
                <a:ea typeface="Arial"/>
                <a:cs typeface="Arial"/>
              </a:defRPr>
            </a:lvl2pPr>
            <a:lvl3pPr>
              <a:defRPr sz="1650">
                <a:solidFill>
                  <a:srgbClr val="65715A"/>
                </a:solidFill>
                <a:latin typeface="Arial"/>
                <a:ea typeface="Arial"/>
                <a:cs typeface="Arial"/>
              </a:defRPr>
            </a:lvl3pPr>
            <a:lvl4pPr>
              <a:defRPr sz="1650">
                <a:solidFill>
                  <a:srgbClr val="65715A"/>
                </a:solidFill>
                <a:latin typeface="Arial"/>
                <a:ea typeface="Arial"/>
                <a:cs typeface="Arial"/>
              </a:defRPr>
            </a:lvl4pPr>
            <a:lvl5pPr>
              <a:defRPr sz="1650">
                <a:solidFill>
                  <a:srgbClr val="65715A"/>
                </a:solidFill>
                <a:latin typeface="Arial"/>
                <a:ea typeface="Arial"/>
                <a:cs typeface="Arial"/>
              </a:defRPr>
            </a:lvl5pPr>
            <a:lvl6pPr>
              <a:defRPr sz="1650">
                <a:solidFill>
                  <a:srgbClr val="65715A"/>
                </a:solidFill>
                <a:latin typeface="Arial"/>
                <a:ea typeface="Arial"/>
                <a:cs typeface="Arial"/>
              </a:defRPr>
            </a:lvl6pPr>
            <a:lvl7pPr>
              <a:defRPr sz="1650">
                <a:solidFill>
                  <a:srgbClr val="65715A"/>
                </a:solidFill>
                <a:latin typeface="Arial"/>
                <a:ea typeface="Arial"/>
                <a:cs typeface="Arial"/>
              </a:defRPr>
            </a:lvl7pPr>
            <a:lvl8pPr>
              <a:defRPr sz="1650">
                <a:solidFill>
                  <a:srgbClr val="65715A"/>
                </a:solidFill>
                <a:latin typeface="Arial"/>
                <a:ea typeface="Arial"/>
                <a:cs typeface="Arial"/>
              </a:defRPr>
            </a:lvl8pPr>
            <a:lvl9pPr>
              <a:defRPr sz="1650">
                <a:solidFill>
                  <a:srgbClr val="65715A"/>
                </a:solidFill>
                <a:latin typeface="Arial"/>
                <a:ea typeface="Arial"/>
                <a:cs typeface="Arial"/>
              </a:defRPr>
            </a:lvl9pPr>
          </a:lstStyle>
          <a:p xmlns:a="http://schemas.openxmlformats.org/drawingml/2006/main">
            <a:pPr>
              <a:defRPr sz="1650">
                <a:solidFill>
                  <a:srgbClr val="65715A"/>
                </a:solidFill>
              </a:defRPr>
            </a:pPr>
            <a:r>
              <a:rPr sz="1650">
                <a:solidFill>
                  <a:srgbClr val="65715A"/>
                </a:solidFill>
                <a:latin typeface="Arial"/>
                <a:ea typeface="Arial"/>
                <a:cs typeface="Arial"/>
              </a:rPr>
              <a:t>SoundBridge</a:t>
            </a:r>
          </a:p>
        </p:txBody>
      </p:sp>
      <p:sp>
        <p:nvSpPr>
          <p:cNvPr id="3" name="">
            <a:extLst xmlns:a="http://schemas.openxmlformats.org/drawingml/2006/main">
              <a:ext uri="{FF2B5EF4-FFF2-40B4-BE49-F238E27FC236}">
                <a16:creationId xmlns:a16="http://schemas.microsoft.com/office/drawing/2014/main" id="{DB911475-4AC0-4244-9912-D33E2C91ADE3}"/>
              </a:ext>
            </a:extLst>
          </p:cNvPr>
          <p:cNvSpPr>
            <a:spLocks xmlns:a="http://schemas.openxmlformats.org/drawingml/2006/main" noGrp="1"/>
          </p:cNvSpPr>
          <p:nvPr/>
        </p:nvSpPr>
        <p:spPr>
          <a:xfrm xmlns:a="http://schemas.openxmlformats.org/drawingml/2006/main">
            <a:off x="10953750" y="4000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a:solidFill>
                  <a:srgbClr val="65715A"/>
                </a:solidFill>
                <a:latin typeface="Arial"/>
                <a:ea typeface="Arial"/>
                <a:cs typeface="Arial"/>
              </a:defRPr>
            </a:defPPr>
            <a:lvl1pPr>
              <a:defRPr sz="1350">
                <a:solidFill>
                  <a:srgbClr val="65715A"/>
                </a:solidFill>
                <a:latin typeface="Arial"/>
                <a:ea typeface="Arial"/>
                <a:cs typeface="Arial"/>
              </a:defRPr>
            </a:lvl1pPr>
            <a:lvl2pPr>
              <a:defRPr sz="1350">
                <a:solidFill>
                  <a:srgbClr val="65715A"/>
                </a:solidFill>
                <a:latin typeface="Arial"/>
                <a:ea typeface="Arial"/>
                <a:cs typeface="Arial"/>
              </a:defRPr>
            </a:lvl2pPr>
            <a:lvl3pPr>
              <a:defRPr sz="1350">
                <a:solidFill>
                  <a:srgbClr val="65715A"/>
                </a:solidFill>
                <a:latin typeface="Arial"/>
                <a:ea typeface="Arial"/>
                <a:cs typeface="Arial"/>
              </a:defRPr>
            </a:lvl3pPr>
            <a:lvl4pPr>
              <a:defRPr sz="1350">
                <a:solidFill>
                  <a:srgbClr val="65715A"/>
                </a:solidFill>
                <a:latin typeface="Arial"/>
                <a:ea typeface="Arial"/>
                <a:cs typeface="Arial"/>
              </a:defRPr>
            </a:lvl4pPr>
            <a:lvl5pPr>
              <a:defRPr sz="1350">
                <a:solidFill>
                  <a:srgbClr val="65715A"/>
                </a:solidFill>
                <a:latin typeface="Arial"/>
                <a:ea typeface="Arial"/>
                <a:cs typeface="Arial"/>
              </a:defRPr>
            </a:lvl5pPr>
            <a:lvl6pPr>
              <a:defRPr sz="1350">
                <a:solidFill>
                  <a:srgbClr val="65715A"/>
                </a:solidFill>
                <a:latin typeface="Arial"/>
                <a:ea typeface="Arial"/>
                <a:cs typeface="Arial"/>
              </a:defRPr>
            </a:lvl6pPr>
            <a:lvl7pPr>
              <a:defRPr sz="1350">
                <a:solidFill>
                  <a:srgbClr val="65715A"/>
                </a:solidFill>
                <a:latin typeface="Arial"/>
                <a:ea typeface="Arial"/>
                <a:cs typeface="Arial"/>
              </a:defRPr>
            </a:lvl7pPr>
            <a:lvl8pPr>
              <a:defRPr sz="1350">
                <a:solidFill>
                  <a:srgbClr val="65715A"/>
                </a:solidFill>
                <a:latin typeface="Arial"/>
                <a:ea typeface="Arial"/>
                <a:cs typeface="Arial"/>
              </a:defRPr>
            </a:lvl8pPr>
            <a:lvl9pPr>
              <a:defRPr sz="1350">
                <a:solidFill>
                  <a:srgbClr val="65715A"/>
                </a:solidFill>
                <a:latin typeface="Arial"/>
                <a:ea typeface="Arial"/>
                <a:cs typeface="Arial"/>
              </a:defRPr>
            </a:lvl9pPr>
          </a:lstStyle>
          <a:p xmlns:a="http://schemas.openxmlformats.org/drawingml/2006/main">
            <a:pPr>
              <a:defRPr sz="1350">
                <a:solidFill>
                  <a:srgbClr val="65715A"/>
                </a:solidFill>
              </a:defRPr>
            </a:pPr>
            <a:r>
              <a:rPr sz="1350">
                <a:solidFill>
                  <a:srgbClr val="65715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0EAE157C-912C-4A18-A732-65824A4F9C45}"/>
              </a:ext>
            </a:extLst>
          </p:cNvPr>
          <p:cNvSpPr>
            <a:spLocks xmlns:a="http://schemas.openxmlformats.org/drawingml/2006/main" noGrp="1"/>
          </p:cNvSpPr>
          <p:nvPr/>
        </p:nvSpPr>
        <p:spPr>
          <a:xfrm xmlns:a="http://schemas.openxmlformats.org/drawingml/2006/main">
            <a:off x="685800" y="1047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75">
                <a:solidFill>
                  <a:srgbClr val="30372F"/>
                </a:solidFill>
                <a:latin typeface="Georgia"/>
                <a:ea typeface="Georgia"/>
                <a:cs typeface="Georgia"/>
              </a:defRPr>
            </a:defPPr>
            <a:lvl1pPr>
              <a:defRPr sz="3975">
                <a:solidFill>
                  <a:srgbClr val="30372F"/>
                </a:solidFill>
                <a:latin typeface="Georgia"/>
                <a:ea typeface="Georgia"/>
                <a:cs typeface="Georgia"/>
              </a:defRPr>
            </a:lvl1pPr>
            <a:lvl2pPr>
              <a:defRPr sz="3975">
                <a:solidFill>
                  <a:srgbClr val="30372F"/>
                </a:solidFill>
                <a:latin typeface="Georgia"/>
                <a:ea typeface="Georgia"/>
                <a:cs typeface="Georgia"/>
              </a:defRPr>
            </a:lvl2pPr>
            <a:lvl3pPr>
              <a:defRPr sz="3975">
                <a:solidFill>
                  <a:srgbClr val="30372F"/>
                </a:solidFill>
                <a:latin typeface="Georgia"/>
                <a:ea typeface="Georgia"/>
                <a:cs typeface="Georgia"/>
              </a:defRPr>
            </a:lvl3pPr>
            <a:lvl4pPr>
              <a:defRPr sz="3975">
                <a:solidFill>
                  <a:srgbClr val="30372F"/>
                </a:solidFill>
                <a:latin typeface="Georgia"/>
                <a:ea typeface="Georgia"/>
                <a:cs typeface="Georgia"/>
              </a:defRPr>
            </a:lvl4pPr>
            <a:lvl5pPr>
              <a:defRPr sz="3975">
                <a:solidFill>
                  <a:srgbClr val="30372F"/>
                </a:solidFill>
                <a:latin typeface="Georgia"/>
                <a:ea typeface="Georgia"/>
                <a:cs typeface="Georgia"/>
              </a:defRPr>
            </a:lvl5pPr>
            <a:lvl6pPr>
              <a:defRPr sz="3975">
                <a:solidFill>
                  <a:srgbClr val="30372F"/>
                </a:solidFill>
                <a:latin typeface="Georgia"/>
                <a:ea typeface="Georgia"/>
                <a:cs typeface="Georgia"/>
              </a:defRPr>
            </a:lvl6pPr>
            <a:lvl7pPr>
              <a:defRPr sz="3975">
                <a:solidFill>
                  <a:srgbClr val="30372F"/>
                </a:solidFill>
                <a:latin typeface="Georgia"/>
                <a:ea typeface="Georgia"/>
                <a:cs typeface="Georgia"/>
              </a:defRPr>
            </a:lvl7pPr>
            <a:lvl8pPr>
              <a:defRPr sz="3975">
                <a:solidFill>
                  <a:srgbClr val="30372F"/>
                </a:solidFill>
                <a:latin typeface="Georgia"/>
                <a:ea typeface="Georgia"/>
                <a:cs typeface="Georgia"/>
              </a:defRPr>
            </a:lvl8pPr>
            <a:lvl9pPr>
              <a:defRPr sz="3975">
                <a:solidFill>
                  <a:srgbClr val="30372F"/>
                </a:solidFill>
                <a:latin typeface="Georgia"/>
                <a:ea typeface="Georgia"/>
                <a:cs typeface="Georgia"/>
              </a:defRPr>
            </a:lvl9pPr>
          </a:lstStyle>
          <a:p xmlns:a="http://schemas.openxmlformats.org/drawingml/2006/main">
            <a:pPr>
              <a:defRPr sz="3975">
                <a:solidFill>
                  <a:srgbClr val="30372F"/>
                </a:solidFill>
              </a:defRPr>
            </a:pPr>
            <a:r>
              <a:rPr sz="3975">
                <a:solidFill>
                  <a:srgbClr val="30372F"/>
                </a:solidFill>
                <a:latin typeface="Georgia"/>
                <a:ea typeface="Georgia"/>
                <a:cs typeface="Georgia"/>
              </a:rPr>
              <a:t>A little more understanding</a:t>
            </a:r>
          </a:p>
        </p:txBody>
      </p:sp>
      <p:sp>
        <p:nvSpPr>
          <p:cNvPr id="5" name="">
            <a:extLst xmlns:a="http://schemas.openxmlformats.org/drawingml/2006/main">
              <a:ext uri="{FF2B5EF4-FFF2-40B4-BE49-F238E27FC236}">
                <a16:creationId xmlns:a16="http://schemas.microsoft.com/office/drawing/2014/main" id="{08C2204F-153E-49A8-A8C9-9D52E3FCF889}"/>
              </a:ext>
            </a:extLst>
          </p:cNvPr>
          <p:cNvSpPr>
            <a:spLocks xmlns:a="http://schemas.openxmlformats.org/drawingml/2006/main" noGrp="1"/>
          </p:cNvSpPr>
          <p:nvPr/>
        </p:nvSpPr>
        <p:spPr>
          <a:xfrm xmlns:a="http://schemas.openxmlformats.org/drawingml/2006/main">
            <a:off x="723900" y="21145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700">
                <a:solidFill>
                  <a:srgbClr val="30372F"/>
                </a:solidFill>
                <a:latin typeface="Georgia"/>
                <a:ea typeface="Georgia"/>
                <a:cs typeface="Georgia"/>
              </a:defRPr>
            </a:defPPr>
            <a:lvl1pPr>
              <a:defRPr sz="5700">
                <a:solidFill>
                  <a:srgbClr val="30372F"/>
                </a:solidFill>
                <a:latin typeface="Georgia"/>
                <a:ea typeface="Georgia"/>
                <a:cs typeface="Georgia"/>
              </a:defRPr>
            </a:lvl1pPr>
            <a:lvl2pPr>
              <a:defRPr sz="5700">
                <a:solidFill>
                  <a:srgbClr val="30372F"/>
                </a:solidFill>
                <a:latin typeface="Georgia"/>
                <a:ea typeface="Georgia"/>
                <a:cs typeface="Georgia"/>
              </a:defRPr>
            </a:lvl2pPr>
            <a:lvl3pPr>
              <a:defRPr sz="5700">
                <a:solidFill>
                  <a:srgbClr val="30372F"/>
                </a:solidFill>
                <a:latin typeface="Georgia"/>
                <a:ea typeface="Georgia"/>
                <a:cs typeface="Georgia"/>
              </a:defRPr>
            </a:lvl3pPr>
            <a:lvl4pPr>
              <a:defRPr sz="5700">
                <a:solidFill>
                  <a:srgbClr val="30372F"/>
                </a:solidFill>
                <a:latin typeface="Georgia"/>
                <a:ea typeface="Georgia"/>
                <a:cs typeface="Georgia"/>
              </a:defRPr>
            </a:lvl4pPr>
            <a:lvl5pPr>
              <a:defRPr sz="5700">
                <a:solidFill>
                  <a:srgbClr val="30372F"/>
                </a:solidFill>
                <a:latin typeface="Georgia"/>
                <a:ea typeface="Georgia"/>
                <a:cs typeface="Georgia"/>
              </a:defRPr>
            </a:lvl5pPr>
            <a:lvl6pPr>
              <a:defRPr sz="5700">
                <a:solidFill>
                  <a:srgbClr val="30372F"/>
                </a:solidFill>
                <a:latin typeface="Georgia"/>
                <a:ea typeface="Georgia"/>
                <a:cs typeface="Georgia"/>
              </a:defRPr>
            </a:lvl6pPr>
            <a:lvl7pPr>
              <a:defRPr sz="5700">
                <a:solidFill>
                  <a:srgbClr val="30372F"/>
                </a:solidFill>
                <a:latin typeface="Georgia"/>
                <a:ea typeface="Georgia"/>
                <a:cs typeface="Georgia"/>
              </a:defRPr>
            </a:lvl7pPr>
            <a:lvl8pPr>
              <a:defRPr sz="5700">
                <a:solidFill>
                  <a:srgbClr val="30372F"/>
                </a:solidFill>
                <a:latin typeface="Georgia"/>
                <a:ea typeface="Georgia"/>
                <a:cs typeface="Georgia"/>
              </a:defRPr>
            </a:lvl8pPr>
            <a:lvl9pPr>
              <a:defRPr sz="5700">
                <a:solidFill>
                  <a:srgbClr val="30372F"/>
                </a:solidFill>
                <a:latin typeface="Georgia"/>
                <a:ea typeface="Georgia"/>
                <a:cs typeface="Georgia"/>
              </a:defRPr>
            </a:lvl9pPr>
          </a:lstStyle>
          <a:p xmlns:a="http://schemas.openxmlformats.org/drawingml/2006/main">
            <a:pPr>
              <a:defRPr sz="5700">
                <a:solidFill>
                  <a:srgbClr val="30372F"/>
                </a:solidFill>
              </a:defRPr>
            </a:pPr>
            <a:r>
              <a:rPr sz="5700">
                <a:solidFill>
                  <a:srgbClr val="30372F"/>
                </a:solidFill>
                <a:latin typeface="Georgia"/>
                <a:ea typeface="Georgia"/>
                <a:cs typeface="Georgia"/>
              </a:rPr>
              <a:t>Your world.</a:t>
            </a:r>
          </a:p>
          <a:p xmlns:a="http://schemas.openxmlformats.org/drawingml/2006/main">
            <a:pPr>
              <a:defRPr sz="5700">
                <a:solidFill>
                  <a:srgbClr val="30372F"/>
                </a:solidFill>
              </a:defRPr>
            </a:pPr>
            <a:r>
              <a:rPr sz="5700">
                <a:solidFill>
                  <a:srgbClr val="30372F"/>
                </a:solidFill>
                <a:latin typeface="Georgia"/>
                <a:ea typeface="Georgia"/>
                <a:cs typeface="Georgia"/>
              </a:rPr>
              <a:t>A little clearer.</a:t>
            </a:r>
          </a:p>
        </p:txBody>
      </p:sp>
      <p:sp>
        <p:nvSpPr>
          <p:cNvPr id="6" name="">
            <a:extLst xmlns:a="http://schemas.openxmlformats.org/drawingml/2006/main">
              <a:ext uri="{FF2B5EF4-FFF2-40B4-BE49-F238E27FC236}">
                <a16:creationId xmlns:a16="http://schemas.microsoft.com/office/drawing/2014/main" id="{43F30F47-1C16-4115-8F8B-5A1478EF0D6A}"/>
              </a:ext>
            </a:extLst>
          </p:cNvPr>
          <p:cNvSpPr>
            <a:spLocks xmlns:a="http://schemas.openxmlformats.org/drawingml/2006/main" noGrp="1"/>
          </p:cNvSpPr>
          <p:nvPr/>
        </p:nvSpPr>
        <p:spPr>
          <a:xfrm xmlns:a="http://schemas.openxmlformats.org/drawingml/2006/main">
            <a:off x="723900" y="453390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a:solidFill>
                  <a:srgbClr val="BC6B47"/>
                </a:solidFill>
                <a:latin typeface="Georgia"/>
                <a:ea typeface="Georgia"/>
                <a:cs typeface="Georgia"/>
              </a:defRPr>
            </a:defPPr>
            <a:lvl1pPr>
              <a:defRPr sz="2625">
                <a:solidFill>
                  <a:srgbClr val="BC6B47"/>
                </a:solidFill>
                <a:latin typeface="Georgia"/>
                <a:ea typeface="Georgia"/>
                <a:cs typeface="Georgia"/>
              </a:defRPr>
            </a:lvl1pPr>
            <a:lvl2pPr>
              <a:defRPr sz="2625">
                <a:solidFill>
                  <a:srgbClr val="BC6B47"/>
                </a:solidFill>
                <a:latin typeface="Georgia"/>
                <a:ea typeface="Georgia"/>
                <a:cs typeface="Georgia"/>
              </a:defRPr>
            </a:lvl2pPr>
            <a:lvl3pPr>
              <a:defRPr sz="2625">
                <a:solidFill>
                  <a:srgbClr val="BC6B47"/>
                </a:solidFill>
                <a:latin typeface="Georgia"/>
                <a:ea typeface="Georgia"/>
                <a:cs typeface="Georgia"/>
              </a:defRPr>
            </a:lvl3pPr>
            <a:lvl4pPr>
              <a:defRPr sz="2625">
                <a:solidFill>
                  <a:srgbClr val="BC6B47"/>
                </a:solidFill>
                <a:latin typeface="Georgia"/>
                <a:ea typeface="Georgia"/>
                <a:cs typeface="Georgia"/>
              </a:defRPr>
            </a:lvl4pPr>
            <a:lvl5pPr>
              <a:defRPr sz="2625">
                <a:solidFill>
                  <a:srgbClr val="BC6B47"/>
                </a:solidFill>
                <a:latin typeface="Georgia"/>
                <a:ea typeface="Georgia"/>
                <a:cs typeface="Georgia"/>
              </a:defRPr>
            </a:lvl5pPr>
            <a:lvl6pPr>
              <a:defRPr sz="2625">
                <a:solidFill>
                  <a:srgbClr val="BC6B47"/>
                </a:solidFill>
                <a:latin typeface="Georgia"/>
                <a:ea typeface="Georgia"/>
                <a:cs typeface="Georgia"/>
              </a:defRPr>
            </a:lvl6pPr>
            <a:lvl7pPr>
              <a:defRPr sz="2625">
                <a:solidFill>
                  <a:srgbClr val="BC6B47"/>
                </a:solidFill>
                <a:latin typeface="Georgia"/>
                <a:ea typeface="Georgia"/>
                <a:cs typeface="Georgia"/>
              </a:defRPr>
            </a:lvl7pPr>
            <a:lvl8pPr>
              <a:defRPr sz="2625">
                <a:solidFill>
                  <a:srgbClr val="BC6B47"/>
                </a:solidFill>
                <a:latin typeface="Georgia"/>
                <a:ea typeface="Georgia"/>
                <a:cs typeface="Georgia"/>
              </a:defRPr>
            </a:lvl8pPr>
            <a:lvl9pPr>
              <a:defRPr sz="2625">
                <a:solidFill>
                  <a:srgbClr val="BC6B47"/>
                </a:solidFill>
                <a:latin typeface="Georgia"/>
                <a:ea typeface="Georgia"/>
                <a:cs typeface="Georgia"/>
              </a:defRPr>
            </a:lvl9pPr>
          </a:lstStyle>
          <a:p xmlns:a="http://schemas.openxmlformats.org/drawingml/2006/main">
            <a:pPr>
              <a:defRPr sz="2625">
                <a:solidFill>
                  <a:srgbClr val="BC6B47"/>
                </a:solidFill>
              </a:defRPr>
            </a:pPr>
            <a:r>
              <a:rPr sz="2625">
                <a:solidFill>
                  <a:srgbClr val="BC6B47"/>
                </a:solidFill>
                <a:latin typeface="Georgia"/>
                <a:ea typeface="Georgia"/>
                <a:cs typeface="Georgia"/>
              </a:rPr>
              <a:t>soundbridge-sasehacks.vercel.app</a:t>
            </a:r>
          </a:p>
        </p:txBody>
      </p:sp>
      <p:sp>
        <p:nvSpPr>
          <p:cNvPr id="7" name="">
            <a:extLst xmlns:a="http://schemas.openxmlformats.org/drawingml/2006/main">
              <a:ext uri="{FF2B5EF4-FFF2-40B4-BE49-F238E27FC236}">
                <a16:creationId xmlns:a16="http://schemas.microsoft.com/office/drawing/2014/main" id="{5076D84F-935D-4227-8E89-26BC2D2085A4}"/>
              </a:ext>
            </a:extLst>
          </p:cNvPr>
          <p:cNvSpPr>
            <a:spLocks xmlns:a="http://schemas.openxmlformats.org/drawingml/2006/main" noGrp="1"/>
          </p:cNvSpPr>
          <p:nvPr/>
        </p:nvSpPr>
        <p:spPr>
          <a:xfrm xmlns:a="http://schemas.openxmlformats.org/drawingml/2006/main">
            <a:off x="723900" y="55816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a:solidFill>
                  <a:srgbClr val="65715A"/>
                </a:solidFill>
                <a:latin typeface="Arial"/>
                <a:ea typeface="Arial"/>
                <a:cs typeface="Arial"/>
              </a:defRPr>
            </a:defPPr>
            <a:lvl1pPr>
              <a:defRPr sz="1725">
                <a:solidFill>
                  <a:srgbClr val="65715A"/>
                </a:solidFill>
                <a:latin typeface="Arial"/>
                <a:ea typeface="Arial"/>
                <a:cs typeface="Arial"/>
              </a:defRPr>
            </a:lvl1pPr>
            <a:lvl2pPr>
              <a:defRPr sz="1725">
                <a:solidFill>
                  <a:srgbClr val="65715A"/>
                </a:solidFill>
                <a:latin typeface="Arial"/>
                <a:ea typeface="Arial"/>
                <a:cs typeface="Arial"/>
              </a:defRPr>
            </a:lvl2pPr>
            <a:lvl3pPr>
              <a:defRPr sz="1725">
                <a:solidFill>
                  <a:srgbClr val="65715A"/>
                </a:solidFill>
                <a:latin typeface="Arial"/>
                <a:ea typeface="Arial"/>
                <a:cs typeface="Arial"/>
              </a:defRPr>
            </a:lvl3pPr>
            <a:lvl4pPr>
              <a:defRPr sz="1725">
                <a:solidFill>
                  <a:srgbClr val="65715A"/>
                </a:solidFill>
                <a:latin typeface="Arial"/>
                <a:ea typeface="Arial"/>
                <a:cs typeface="Arial"/>
              </a:defRPr>
            </a:lvl4pPr>
            <a:lvl5pPr>
              <a:defRPr sz="1725">
                <a:solidFill>
                  <a:srgbClr val="65715A"/>
                </a:solidFill>
                <a:latin typeface="Arial"/>
                <a:ea typeface="Arial"/>
                <a:cs typeface="Arial"/>
              </a:defRPr>
            </a:lvl5pPr>
            <a:lvl6pPr>
              <a:defRPr sz="1725">
                <a:solidFill>
                  <a:srgbClr val="65715A"/>
                </a:solidFill>
                <a:latin typeface="Arial"/>
                <a:ea typeface="Arial"/>
                <a:cs typeface="Arial"/>
              </a:defRPr>
            </a:lvl6pPr>
            <a:lvl7pPr>
              <a:defRPr sz="1725">
                <a:solidFill>
                  <a:srgbClr val="65715A"/>
                </a:solidFill>
                <a:latin typeface="Arial"/>
                <a:ea typeface="Arial"/>
                <a:cs typeface="Arial"/>
              </a:defRPr>
            </a:lvl7pPr>
            <a:lvl8pPr>
              <a:defRPr sz="1725">
                <a:solidFill>
                  <a:srgbClr val="65715A"/>
                </a:solidFill>
                <a:latin typeface="Arial"/>
                <a:ea typeface="Arial"/>
                <a:cs typeface="Arial"/>
              </a:defRPr>
            </a:lvl8pPr>
            <a:lvl9pPr>
              <a:defRPr sz="1725">
                <a:solidFill>
                  <a:srgbClr val="65715A"/>
                </a:solidFill>
                <a:latin typeface="Arial"/>
                <a:ea typeface="Arial"/>
                <a:cs typeface="Arial"/>
              </a:defRPr>
            </a:lvl9pPr>
          </a:lstStyle>
          <a:p xmlns:a="http://schemas.openxmlformats.org/drawingml/2006/main">
            <a:pPr>
              <a:defRPr sz="1725">
                <a:solidFill>
                  <a:srgbClr val="65715A"/>
                </a:solidFill>
              </a:defRPr>
            </a:pPr>
            <a:r>
              <a:rPr sz="1725">
                <a:solidFill>
                  <a:srgbClr val="65715A"/>
                </a:solidFill>
                <a:latin typeface="Arial"/>
                <a:ea typeface="Arial"/>
                <a:cs typeface="Arial"/>
              </a:rPr>
              <a:t>Live app and source are ready for review.</a:t>
            </a:r>
          </a:p>
          <a:p xmlns:a="http://schemas.openxmlformats.org/drawingml/2006/main">
            <a:pPr>
              <a:defRPr sz="1725">
                <a:solidFill>
                  <a:srgbClr val="65715A"/>
                </a:solidFill>
              </a:defRPr>
            </a:pPr>
            <a:r>
              <a:rPr sz="1725">
                <a:solidFill>
                  <a:srgbClr val="65715A"/>
                </a:solidFill>
                <a:latin typeface="Arial"/>
                <a:ea typeface="Arial"/>
                <a:cs typeface="Arial"/>
              </a:rPr>
              <a:t>Devpost submission remains under the team’s control.</a:t>
            </a:r>
          </a:p>
        </p:txBody>
      </p:sp>
    </p:spTree>
    <p:extLst>
      <p:ext uri="{BB962C8B-B14F-4D97-AF65-F5344CB8AC3E}">
        <p14:creationId xmlns:p14="http://schemas.microsoft.com/office/powerpoint/2010/main" val="700323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2026-10-24T20:27:41.9330000Z</dcterms:created>
  <dcterms:modified xsi:type="dcterms:W3CDTF">2026-10-24T20:27:41.9330000Z</dcterms:modified>
</coreProperties>
</file>